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72" r:id="rId2"/>
    <p:sldId id="292" r:id="rId3"/>
    <p:sldId id="398" r:id="rId4"/>
    <p:sldId id="437" r:id="rId5"/>
    <p:sldId id="438" r:id="rId6"/>
    <p:sldId id="439" r:id="rId7"/>
    <p:sldId id="415" r:id="rId8"/>
    <p:sldId id="440" r:id="rId9"/>
    <p:sldId id="441" r:id="rId10"/>
    <p:sldId id="442" r:id="rId11"/>
    <p:sldId id="443" r:id="rId12"/>
    <p:sldId id="444" r:id="rId13"/>
    <p:sldId id="416" r:id="rId14"/>
    <p:sldId id="436" r:id="rId15"/>
    <p:sldId id="422" r:id="rId16"/>
    <p:sldId id="424" r:id="rId17"/>
    <p:sldId id="429" r:id="rId18"/>
    <p:sldId id="430" r:id="rId19"/>
    <p:sldId id="425" r:id="rId20"/>
    <p:sldId id="432" r:id="rId21"/>
    <p:sldId id="431" r:id="rId22"/>
    <p:sldId id="433" r:id="rId23"/>
    <p:sldId id="426" r:id="rId24"/>
    <p:sldId id="435" r:id="rId25"/>
    <p:sldId id="434" r:id="rId26"/>
    <p:sldId id="427" r:id="rId27"/>
    <p:sldId id="418" r:id="rId28"/>
    <p:sldId id="413" r:id="rId29"/>
  </p:sldIdLst>
  <p:sldSz cx="12192000" cy="6858000"/>
  <p:notesSz cx="6858000" cy="9144000"/>
  <p:embeddedFontLst>
    <p:embeddedFont>
      <p:font typeface="나눔명조" panose="02020603020101020101" pitchFamily="18" charset="-127"/>
      <p:regular r:id="rId31"/>
      <p:bold r:id="rId32"/>
    </p:embeddedFont>
    <p:embeddedFont>
      <p:font typeface="맑은 고딕" panose="020B0503020000020004" pitchFamily="34" charset="-127"/>
      <p:regular r:id="rId33"/>
      <p:bold r:id="rId34"/>
    </p:embeddedFont>
    <p:embeddedFont>
      <p:font typeface="Cambria Math" panose="02040503050406030204" pitchFamily="18" charset="0"/>
      <p:regular r:id="rId35"/>
    </p:embeddedFont>
    <p:embeddedFont>
      <p:font typeface="KoPubWorld돋움체 Bold" pitchFamily="2" charset="-127"/>
      <p:bold r:id="rId36"/>
    </p:embeddedFont>
    <p:embeddedFont>
      <p:font typeface="KoPubWorld돋움체 Medium" pitchFamily="2" charset="-127"/>
      <p:regular r:id="rId37"/>
    </p:embeddedFont>
    <p:embeddedFont>
      <p:font typeface="KOPUBWORLDDOTUM MEDIUM" pitchFamily="2" charset="-127"/>
      <p:regular r:id="rId3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8" orient="horz" pos="3974" userDrawn="1">
          <p15:clr>
            <a:srgbClr val="A4A3A4"/>
          </p15:clr>
        </p15:guide>
        <p15:guide id="9" pos="665" userDrawn="1">
          <p15:clr>
            <a:srgbClr val="A4A3A4"/>
          </p15:clr>
        </p15:guide>
        <p15:guide id="10" pos="701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1C3708-47F3-F116-0420-B0350F1D790C}" name="이상아" initials="이" userId="S::sa0531@edu.dgist.ac.kr::6eb39fb8-6555-4d1e-b342-701d9504d6f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749"/>
    <a:srgbClr val="256080"/>
    <a:srgbClr val="5BA1B4"/>
    <a:srgbClr val="FFFFFF"/>
    <a:srgbClr val="0A1645"/>
    <a:srgbClr val="181818"/>
    <a:srgbClr val="F4F4F4"/>
    <a:srgbClr val="CD0F41"/>
    <a:srgbClr val="115445"/>
    <a:srgbClr val="036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76" autoAdjust="0"/>
    <p:restoredTop sz="78238" autoAdjust="0"/>
  </p:normalViewPr>
  <p:slideViewPr>
    <p:cSldViewPr snapToGrid="0" showGuides="1">
      <p:cViewPr varScale="1">
        <p:scale>
          <a:sx n="101" d="100"/>
          <a:sy n="101" d="100"/>
        </p:scale>
        <p:origin x="568" y="184"/>
      </p:cViewPr>
      <p:guideLst>
        <p:guide orient="horz" pos="799"/>
        <p:guide pos="3840"/>
        <p:guide orient="horz" pos="2160"/>
        <p:guide orient="horz" pos="3974"/>
        <p:guide pos="665"/>
        <p:guide pos="701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41019-9F18-413F-B26E-0F558C84ABD5}" type="datetimeFigureOut">
              <a:rPr lang="ko-KR" altLang="en-US" smtClean="0"/>
              <a:t>2025. 6. 1.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83F59-9E60-4ADF-A2BF-D60AC9F92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257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015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52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83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2782-DAA1-AD23-A128-0C29675D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3753D5-447C-F41E-65F8-605FE880D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5C2760-853F-454F-E153-1E5C0C3B0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D840F-DDB2-8835-A3D2-A857ECE04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432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DD8F-0441-C0A1-F1F5-F2C7985E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CA060B-E343-84AC-2578-08614E32A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6832E6-5947-4D9C-C605-C7DD093C1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F3AF38-B82C-A1C5-DE3B-EA727179E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188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D0197-4CAB-52CD-DAB7-29D3BEA5A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ADD528-B884-4F7F-9949-5E8FAFC8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68B862-7030-5E16-B6F3-801E30AA0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9FD36-E4D2-D210-3425-E2852C120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340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391A-0769-0E4A-90C3-DCCE96BF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36BA71-53E8-DB02-2DC1-D4970FF11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99B04-928C-52F3-6AE4-7066FD286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9070C5-98C0-7DD6-71F4-D67DE5A21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580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D94E-8661-E9A6-566D-4906A093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A17E5B-0B94-574C-5774-78BF70BE7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1986AE-5F87-BDC2-9560-DD16C4C2C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E615BC-E8D2-707F-12F3-0381A2FBE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119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FEF9-3808-007C-BD4F-035319E6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E02B5F-1BC6-B321-C56C-496BFB6FA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1BC5E-BBB9-5C62-265F-454C735EA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2FDDB-5FD2-3704-65E0-88392EFA0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339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5569-292E-7664-A1D3-D92F1EF5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4BA462-8A86-5CF5-DF3F-56486026F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9305A6-63EE-38EF-ABED-BA0C96B38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5120EB-815E-DF0C-F8B7-852A6B0AD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272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145B-019C-AFE2-9AF6-8277BC8E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FF2BE9-7F71-FAA4-2CA2-528A0DE35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D2945A-4356-27F7-664C-EFB74080A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CC793B-29F2-4990-6761-39019C558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158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196A-5263-2B76-980C-AA2B3BA8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F45637-973A-F350-A6B7-5D35599AE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3AD388-55BD-6EF8-B748-6DCDD8BC8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8B1BA8-53EB-3E22-F20D-FA752F3BD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62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75A2A-F22F-1065-A49B-214E91B8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03EF42-20C0-201C-85B7-099BA69A7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347C1B-D87E-4D3B-23B0-1584BB861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D7459E-1191-0087-164F-03AFCFF3E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181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336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851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3F59-9E60-4ADF-A2BF-D60AC9F9208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677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9D5A57D-5749-40E8-A53C-2CAF01A4CD08}"/>
              </a:ext>
            </a:extLst>
          </p:cNvPr>
          <p:cNvGrpSpPr/>
          <p:nvPr userDrawn="1"/>
        </p:nvGrpSpPr>
        <p:grpSpPr>
          <a:xfrm>
            <a:off x="0" y="4380932"/>
            <a:ext cx="12191999" cy="2477068"/>
            <a:chOff x="0" y="4380932"/>
            <a:chExt cx="12191999" cy="2477068"/>
          </a:xfrm>
        </p:grpSpPr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1610A38F-52BD-49C7-ABA5-06391B3507FE}"/>
                </a:ext>
              </a:extLst>
            </p:cNvPr>
            <p:cNvSpPr/>
            <p:nvPr userDrawn="1"/>
          </p:nvSpPr>
          <p:spPr>
            <a:xfrm>
              <a:off x="0" y="4380932"/>
              <a:ext cx="12191999" cy="2477068"/>
            </a:xfrm>
            <a:custGeom>
              <a:avLst/>
              <a:gdLst>
                <a:gd name="connsiteX0" fmla="*/ 0 w 12191999"/>
                <a:gd name="connsiteY0" fmla="*/ 0 h 2477068"/>
                <a:gd name="connsiteX1" fmla="*/ 12191999 w 12191999"/>
                <a:gd name="connsiteY1" fmla="*/ 1800527 h 2477068"/>
                <a:gd name="connsiteX2" fmla="*/ 12191999 w 12191999"/>
                <a:gd name="connsiteY2" fmla="*/ 2477068 h 2477068"/>
                <a:gd name="connsiteX3" fmla="*/ 0 w 12191999"/>
                <a:gd name="connsiteY3" fmla="*/ 2477068 h 247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9" h="2477068">
                  <a:moveTo>
                    <a:pt x="0" y="0"/>
                  </a:moveTo>
                  <a:lnTo>
                    <a:pt x="12191999" y="1800527"/>
                  </a:lnTo>
                  <a:lnTo>
                    <a:pt x="12191999" y="2477068"/>
                  </a:lnTo>
                  <a:lnTo>
                    <a:pt x="0" y="2477068"/>
                  </a:lnTo>
                  <a:close/>
                </a:path>
              </a:pathLst>
            </a:custGeom>
            <a:solidFill>
              <a:srgbClr val="E9EAEC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  <p:sp>
          <p:nvSpPr>
            <p:cNvPr id="13" name="직각 삼각형 12">
              <a:extLst>
                <a:ext uri="{FF2B5EF4-FFF2-40B4-BE49-F238E27FC236}">
                  <a16:creationId xmlns:a16="http://schemas.microsoft.com/office/drawing/2014/main" id="{D2BAD9CD-E903-4AC4-8600-1A78AE0F1458}"/>
                </a:ext>
              </a:extLst>
            </p:cNvPr>
            <p:cNvSpPr/>
            <p:nvPr userDrawn="1"/>
          </p:nvSpPr>
          <p:spPr>
            <a:xfrm flipH="1">
              <a:off x="2565778" y="4797188"/>
              <a:ext cx="9626221" cy="2060812"/>
            </a:xfrm>
            <a:prstGeom prst="rtTriangle">
              <a:avLst/>
            </a:prstGeom>
            <a:solidFill>
              <a:srgbClr val="D9DADC">
                <a:alpha val="8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2841D011-03DD-4560-A3F4-6A2291A3BA12}"/>
                </a:ext>
              </a:extLst>
            </p:cNvPr>
            <p:cNvSpPr/>
            <p:nvPr userDrawn="1"/>
          </p:nvSpPr>
          <p:spPr>
            <a:xfrm>
              <a:off x="0" y="5486399"/>
              <a:ext cx="12191999" cy="1371601"/>
            </a:xfrm>
            <a:custGeom>
              <a:avLst/>
              <a:gdLst>
                <a:gd name="connsiteX0" fmla="*/ 0 w 12191999"/>
                <a:gd name="connsiteY0" fmla="*/ 0 h 1371601"/>
                <a:gd name="connsiteX1" fmla="*/ 12191999 w 12191999"/>
                <a:gd name="connsiteY1" fmla="*/ 996987 h 1371601"/>
                <a:gd name="connsiteX2" fmla="*/ 12191999 w 12191999"/>
                <a:gd name="connsiteY2" fmla="*/ 1371601 h 1371601"/>
                <a:gd name="connsiteX3" fmla="*/ 0 w 12191999"/>
                <a:gd name="connsiteY3" fmla="*/ 1371601 h 137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9" h="1371601">
                  <a:moveTo>
                    <a:pt x="0" y="0"/>
                  </a:moveTo>
                  <a:lnTo>
                    <a:pt x="12191999" y="996987"/>
                  </a:lnTo>
                  <a:lnTo>
                    <a:pt x="12191999" y="1371601"/>
                  </a:lnTo>
                  <a:lnTo>
                    <a:pt x="0" y="1371601"/>
                  </a:lnTo>
                  <a:close/>
                </a:path>
              </a:pathLst>
            </a:cu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E9527A2-3C01-4DD3-AF05-C2B5BAC30EF0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B17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A9B3F4-96A6-4B80-B35A-2F6D50CCCD1D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B1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298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슬라이드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992D7F4D-BD1D-4ED5-B31D-562A95BA802A}"/>
              </a:ext>
            </a:extLst>
          </p:cNvPr>
          <p:cNvSpPr/>
          <p:nvPr userDrawn="1"/>
        </p:nvSpPr>
        <p:spPr>
          <a:xfrm rot="16200000" flipH="1">
            <a:off x="7524468" y="2190466"/>
            <a:ext cx="6857996" cy="2477068"/>
          </a:xfrm>
          <a:custGeom>
            <a:avLst/>
            <a:gdLst>
              <a:gd name="connsiteX0" fmla="*/ 0 w 6857996"/>
              <a:gd name="connsiteY0" fmla="*/ 0 h 2477068"/>
              <a:gd name="connsiteX1" fmla="*/ 0 w 6857996"/>
              <a:gd name="connsiteY1" fmla="*/ 2477068 h 2477068"/>
              <a:gd name="connsiteX2" fmla="*/ 6857996 w 6857996"/>
              <a:gd name="connsiteY2" fmla="*/ 2477067 h 2477068"/>
              <a:gd name="connsiteX3" fmla="*/ 6857996 w 6857996"/>
              <a:gd name="connsiteY3" fmla="*/ 1764732 h 2477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6" h="2477068">
                <a:moveTo>
                  <a:pt x="0" y="0"/>
                </a:moveTo>
                <a:lnTo>
                  <a:pt x="0" y="2477068"/>
                </a:lnTo>
                <a:lnTo>
                  <a:pt x="6857996" y="2477067"/>
                </a:lnTo>
                <a:lnTo>
                  <a:pt x="6857996" y="1764732"/>
                </a:lnTo>
                <a:close/>
              </a:path>
            </a:pathLst>
          </a:custGeom>
          <a:solidFill>
            <a:srgbClr val="E9EAEC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ea typeface="나눔명조" panose="02020603020101020101" pitchFamily="18" charset="-127"/>
            </a:endParaRP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D9872D6E-3C15-4A9F-827F-DE7A888C243C}"/>
              </a:ext>
            </a:extLst>
          </p:cNvPr>
          <p:cNvSpPr/>
          <p:nvPr userDrawn="1"/>
        </p:nvSpPr>
        <p:spPr>
          <a:xfrm rot="16200000">
            <a:off x="7732594" y="2398594"/>
            <a:ext cx="6857999" cy="2060813"/>
          </a:xfrm>
          <a:custGeom>
            <a:avLst/>
            <a:gdLst>
              <a:gd name="connsiteX0" fmla="*/ 6857999 w 6857999"/>
              <a:gd name="connsiteY0" fmla="*/ 1602854 h 2060813"/>
              <a:gd name="connsiteX1" fmla="*/ 6857999 w 6857999"/>
              <a:gd name="connsiteY1" fmla="*/ 2060813 h 2060813"/>
              <a:gd name="connsiteX2" fmla="*/ 0 w 6857999"/>
              <a:gd name="connsiteY2" fmla="*/ 2060813 h 2060813"/>
              <a:gd name="connsiteX3" fmla="*/ 0 w 6857999"/>
              <a:gd name="connsiteY3" fmla="*/ 0 h 2060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9" h="2060813">
                <a:moveTo>
                  <a:pt x="6857999" y="1602854"/>
                </a:moveTo>
                <a:lnTo>
                  <a:pt x="6857999" y="2060813"/>
                </a:lnTo>
                <a:lnTo>
                  <a:pt x="0" y="2060813"/>
                </a:lnTo>
                <a:lnTo>
                  <a:pt x="0" y="0"/>
                </a:lnTo>
                <a:close/>
              </a:path>
            </a:pathLst>
          </a:custGeom>
          <a:solidFill>
            <a:srgbClr val="D9DAD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ea typeface="나눔명조" panose="02020603020101020101" pitchFamily="18" charset="-127"/>
            </a:endParaRP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83503A27-DCD5-4CAC-B5CC-CA96753786D5}"/>
              </a:ext>
            </a:extLst>
          </p:cNvPr>
          <p:cNvSpPr/>
          <p:nvPr userDrawn="1"/>
        </p:nvSpPr>
        <p:spPr>
          <a:xfrm rot="5400000" flipV="1">
            <a:off x="8077202" y="2743200"/>
            <a:ext cx="6857996" cy="1371600"/>
          </a:xfrm>
          <a:custGeom>
            <a:avLst/>
            <a:gdLst>
              <a:gd name="connsiteX0" fmla="*/ 0 w 6857996"/>
              <a:gd name="connsiteY0" fmla="*/ 0 h 1371600"/>
              <a:gd name="connsiteX1" fmla="*/ 0 w 6857996"/>
              <a:gd name="connsiteY1" fmla="*/ 1371600 h 1371600"/>
              <a:gd name="connsiteX2" fmla="*/ 6857996 w 6857996"/>
              <a:gd name="connsiteY2" fmla="*/ 1371600 h 1371600"/>
              <a:gd name="connsiteX3" fmla="*/ 6857996 w 6857996"/>
              <a:gd name="connsiteY3" fmla="*/ 1112108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6" h="1371600">
                <a:moveTo>
                  <a:pt x="0" y="0"/>
                </a:moveTo>
                <a:lnTo>
                  <a:pt x="0" y="1371600"/>
                </a:lnTo>
                <a:lnTo>
                  <a:pt x="6857996" y="1371600"/>
                </a:lnTo>
                <a:lnTo>
                  <a:pt x="6857996" y="1112108"/>
                </a:lnTo>
                <a:close/>
              </a:path>
            </a:pathLst>
          </a:custGeom>
          <a:solidFill>
            <a:srgbClr val="0B1749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ea typeface="나눔명조" panose="02020603020101020101" pitchFamily="18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B2D02F2-11F2-46AF-A9B2-555EF7D6AB7E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515148" y="2110772"/>
            <a:ext cx="313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68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CA0739E-3CAF-42CB-9920-D95EE0FB11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명조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D4A0766-C885-4540-9D41-C4948E9EC9CB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B17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B624F4-F373-4F81-858E-8EBBCFB85C78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B1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37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D8795100-259E-4093-9C03-C6F0EFFC1E05}"/>
              </a:ext>
            </a:extLst>
          </p:cNvPr>
          <p:cNvGrpSpPr/>
          <p:nvPr userDrawn="1"/>
        </p:nvGrpSpPr>
        <p:grpSpPr>
          <a:xfrm>
            <a:off x="0" y="4944140"/>
            <a:ext cx="12191999" cy="1913860"/>
            <a:chOff x="0" y="4380932"/>
            <a:chExt cx="12191999" cy="2477068"/>
          </a:xfrm>
        </p:grpSpPr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19F21F45-7F38-4323-8FC9-C136A90EE705}"/>
                </a:ext>
              </a:extLst>
            </p:cNvPr>
            <p:cNvSpPr/>
            <p:nvPr userDrawn="1"/>
          </p:nvSpPr>
          <p:spPr>
            <a:xfrm>
              <a:off x="0" y="4380932"/>
              <a:ext cx="12191999" cy="2477068"/>
            </a:xfrm>
            <a:custGeom>
              <a:avLst/>
              <a:gdLst>
                <a:gd name="connsiteX0" fmla="*/ 0 w 12191999"/>
                <a:gd name="connsiteY0" fmla="*/ 0 h 2477068"/>
                <a:gd name="connsiteX1" fmla="*/ 12191999 w 12191999"/>
                <a:gd name="connsiteY1" fmla="*/ 1800527 h 2477068"/>
                <a:gd name="connsiteX2" fmla="*/ 12191999 w 12191999"/>
                <a:gd name="connsiteY2" fmla="*/ 2477068 h 2477068"/>
                <a:gd name="connsiteX3" fmla="*/ 0 w 12191999"/>
                <a:gd name="connsiteY3" fmla="*/ 2477068 h 247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9" h="2477068">
                  <a:moveTo>
                    <a:pt x="0" y="0"/>
                  </a:moveTo>
                  <a:lnTo>
                    <a:pt x="12191999" y="1800527"/>
                  </a:lnTo>
                  <a:lnTo>
                    <a:pt x="12191999" y="2477068"/>
                  </a:lnTo>
                  <a:lnTo>
                    <a:pt x="0" y="2477068"/>
                  </a:lnTo>
                  <a:close/>
                </a:path>
              </a:pathLst>
            </a:custGeom>
            <a:solidFill>
              <a:srgbClr val="E9EAEC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  <p:sp>
          <p:nvSpPr>
            <p:cNvPr id="38" name="직각 삼각형 37">
              <a:extLst>
                <a:ext uri="{FF2B5EF4-FFF2-40B4-BE49-F238E27FC236}">
                  <a16:creationId xmlns:a16="http://schemas.microsoft.com/office/drawing/2014/main" id="{6F23C3D0-3E64-4F20-91B0-6D7432FDD5CF}"/>
                </a:ext>
              </a:extLst>
            </p:cNvPr>
            <p:cNvSpPr/>
            <p:nvPr userDrawn="1"/>
          </p:nvSpPr>
          <p:spPr>
            <a:xfrm flipH="1">
              <a:off x="2565778" y="4797188"/>
              <a:ext cx="9626221" cy="2060812"/>
            </a:xfrm>
            <a:prstGeom prst="rtTriangle">
              <a:avLst/>
            </a:prstGeom>
            <a:solidFill>
              <a:srgbClr val="D9DADC">
                <a:alpha val="8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71D4D8A2-9741-499B-B1EE-A46237156E65}"/>
                </a:ext>
              </a:extLst>
            </p:cNvPr>
            <p:cNvSpPr/>
            <p:nvPr userDrawn="1"/>
          </p:nvSpPr>
          <p:spPr>
            <a:xfrm>
              <a:off x="0" y="5486399"/>
              <a:ext cx="12191999" cy="1371601"/>
            </a:xfrm>
            <a:custGeom>
              <a:avLst/>
              <a:gdLst>
                <a:gd name="connsiteX0" fmla="*/ 0 w 12191999"/>
                <a:gd name="connsiteY0" fmla="*/ 0 h 1371601"/>
                <a:gd name="connsiteX1" fmla="*/ 12191999 w 12191999"/>
                <a:gd name="connsiteY1" fmla="*/ 996987 h 1371601"/>
                <a:gd name="connsiteX2" fmla="*/ 12191999 w 12191999"/>
                <a:gd name="connsiteY2" fmla="*/ 1371601 h 1371601"/>
                <a:gd name="connsiteX3" fmla="*/ 0 w 12191999"/>
                <a:gd name="connsiteY3" fmla="*/ 1371601 h 137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9" h="1371601">
                  <a:moveTo>
                    <a:pt x="0" y="0"/>
                  </a:moveTo>
                  <a:lnTo>
                    <a:pt x="12191999" y="996987"/>
                  </a:lnTo>
                  <a:lnTo>
                    <a:pt x="12191999" y="1371601"/>
                  </a:lnTo>
                  <a:lnTo>
                    <a:pt x="0" y="1371601"/>
                  </a:lnTo>
                  <a:close/>
                </a:path>
              </a:pathLst>
            </a:cu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17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9B562A9-D583-499C-AEE8-A68723A13B6B}"/>
              </a:ext>
            </a:extLst>
          </p:cNvPr>
          <p:cNvSpPr/>
          <p:nvPr userDrawn="1"/>
        </p:nvSpPr>
        <p:spPr>
          <a:xfrm>
            <a:off x="0" y="0"/>
            <a:ext cx="12192000" cy="795855"/>
          </a:xfrm>
          <a:prstGeom prst="rect">
            <a:avLst/>
          </a:prstGeom>
          <a:solidFill>
            <a:srgbClr val="0B1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385EC-92C6-4A54-B7AE-E6B47CECB170}"/>
              </a:ext>
            </a:extLst>
          </p:cNvPr>
          <p:cNvSpPr txBox="1"/>
          <p:nvPr userDrawn="1"/>
        </p:nvSpPr>
        <p:spPr>
          <a:xfrm>
            <a:off x="9257682" y="249808"/>
            <a:ext cx="2934318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b="1" dirty="0">
                <a:solidFill>
                  <a:schemeClr val="bg1"/>
                </a:solidFill>
              </a:rPr>
              <a:t>RL Modeling for IGT Task</a:t>
            </a: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7388310E-80F0-4592-A9DD-A98144662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429" y="249808"/>
            <a:ext cx="5183908" cy="5447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buNone/>
              <a:defRPr lang="ko-KR" altLang="en-US" sz="24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marL="0" lvl="0">
              <a:lnSpc>
                <a:spcPct val="130000"/>
              </a:lnSpc>
            </a:pPr>
            <a:r>
              <a:rPr lang="ko-KR" altLang="en-US" dirty="0"/>
              <a:t>제목</a:t>
            </a:r>
            <a:r>
              <a:rPr lang="en-US" altLang="ko-KR" dirty="0"/>
              <a:t>(24)</a:t>
            </a:r>
            <a:endParaRPr lang="ko-KR" altLang="en-US" dirty="0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6FE44C9-2381-4923-9001-0C3D1B28B961}"/>
              </a:ext>
            </a:extLst>
          </p:cNvPr>
          <p:cNvSpPr/>
          <p:nvPr userDrawn="1"/>
        </p:nvSpPr>
        <p:spPr>
          <a:xfrm>
            <a:off x="1" y="818741"/>
            <a:ext cx="8019037" cy="72000"/>
          </a:xfrm>
          <a:custGeom>
            <a:avLst/>
            <a:gdLst>
              <a:gd name="connsiteX0" fmla="*/ 0 w 8019037"/>
              <a:gd name="connsiteY0" fmla="*/ 0 h 72000"/>
              <a:gd name="connsiteX1" fmla="*/ 8019037 w 8019037"/>
              <a:gd name="connsiteY1" fmla="*/ 0 h 72000"/>
              <a:gd name="connsiteX2" fmla="*/ 7929038 w 8019037"/>
              <a:gd name="connsiteY2" fmla="*/ 72000 h 72000"/>
              <a:gd name="connsiteX3" fmla="*/ 0 w 8019037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9037" h="72000">
                <a:moveTo>
                  <a:pt x="0" y="0"/>
                </a:moveTo>
                <a:lnTo>
                  <a:pt x="8019037" y="0"/>
                </a:lnTo>
                <a:lnTo>
                  <a:pt x="7929038" y="72000"/>
                </a:lnTo>
                <a:lnTo>
                  <a:pt x="0" y="72000"/>
                </a:lnTo>
                <a:close/>
              </a:path>
            </a:pathLst>
          </a:custGeom>
          <a:solidFill>
            <a:srgbClr val="E0E1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D69A2117-157B-40C7-88AB-021EB25FEB2D}"/>
              </a:ext>
            </a:extLst>
          </p:cNvPr>
          <p:cNvSpPr/>
          <p:nvPr userDrawn="1"/>
        </p:nvSpPr>
        <p:spPr>
          <a:xfrm>
            <a:off x="7976284" y="818741"/>
            <a:ext cx="4215717" cy="72000"/>
          </a:xfrm>
          <a:custGeom>
            <a:avLst/>
            <a:gdLst>
              <a:gd name="connsiteX0" fmla="*/ 92142 w 4215717"/>
              <a:gd name="connsiteY0" fmla="*/ 0 h 72000"/>
              <a:gd name="connsiteX1" fmla="*/ 4215717 w 4215717"/>
              <a:gd name="connsiteY1" fmla="*/ 0 h 72000"/>
              <a:gd name="connsiteX2" fmla="*/ 4215717 w 4215717"/>
              <a:gd name="connsiteY2" fmla="*/ 72000 h 72000"/>
              <a:gd name="connsiteX3" fmla="*/ 0 w 4215717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5717" h="72000">
                <a:moveTo>
                  <a:pt x="92142" y="0"/>
                </a:moveTo>
                <a:lnTo>
                  <a:pt x="4215717" y="0"/>
                </a:lnTo>
                <a:lnTo>
                  <a:pt x="4215717" y="72000"/>
                </a:lnTo>
                <a:lnTo>
                  <a:pt x="0" y="72000"/>
                </a:lnTo>
                <a:close/>
              </a:path>
            </a:pathLst>
          </a:custGeom>
          <a:solidFill>
            <a:srgbClr val="0B1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5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09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1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osf.io/8t7r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psytoolkit.org/experiment-library/igt.html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CA2F0B37-A13F-45C1-9DEB-45FF9BDFE6F5}"/>
              </a:ext>
            </a:extLst>
          </p:cNvPr>
          <p:cNvGrpSpPr/>
          <p:nvPr/>
        </p:nvGrpSpPr>
        <p:grpSpPr>
          <a:xfrm>
            <a:off x="1145004" y="1119386"/>
            <a:ext cx="8424298" cy="2053080"/>
            <a:chOff x="3245346" y="3414704"/>
            <a:chExt cx="6836532" cy="395548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64F802-F1C2-4A04-AB21-F1F18C297B1F}"/>
                </a:ext>
              </a:extLst>
            </p:cNvPr>
            <p:cNvSpPr txBox="1"/>
            <p:nvPr/>
          </p:nvSpPr>
          <p:spPr>
            <a:xfrm>
              <a:off x="3245346" y="4197822"/>
              <a:ext cx="6836532" cy="317236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r>
                <a:rPr lang="en-US" altLang="ko-KR" sz="4000" dirty="0"/>
                <a:t>Reinforcement Learning Modeling of the Iowa Gambling Task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B8F4CE-4FE3-424D-ACC4-4B967FEC4AEE}"/>
                </a:ext>
              </a:extLst>
            </p:cNvPr>
            <p:cNvSpPr txBox="1"/>
            <p:nvPr/>
          </p:nvSpPr>
          <p:spPr>
            <a:xfrm>
              <a:off x="3245346" y="3414704"/>
              <a:ext cx="4759036" cy="831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>
                  <a:solidFill>
                    <a:srgbClr val="181818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defRPr>
              </a:lvl1pPr>
            </a:lstStyle>
            <a:p>
              <a:r>
                <a:rPr lang="en-US" altLang="ko-KR" dirty="0"/>
                <a:t>Project Report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F09BAFB-415C-41F3-AEBD-564DB39335B1}"/>
              </a:ext>
            </a:extLst>
          </p:cNvPr>
          <p:cNvSpPr txBox="1"/>
          <p:nvPr/>
        </p:nvSpPr>
        <p:spPr>
          <a:xfrm>
            <a:off x="6539697" y="4226662"/>
            <a:ext cx="4194827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 algn="r"/>
            <a:r>
              <a:rPr lang="en-US" altLang="ko-KR" dirty="0"/>
              <a:t>202011003</a:t>
            </a:r>
            <a:r>
              <a:rPr lang="ko-KR" altLang="en-US" dirty="0"/>
              <a:t> 강승수</a:t>
            </a:r>
            <a:endParaRPr lang="en-US" altLang="ko-KR" dirty="0"/>
          </a:p>
          <a:p>
            <a:pPr algn="r"/>
            <a:r>
              <a:rPr lang="en-US" altLang="ko-KR" dirty="0"/>
              <a:t>202211080</a:t>
            </a:r>
            <a:r>
              <a:rPr lang="ko-KR" altLang="en-US" dirty="0"/>
              <a:t> </a:t>
            </a:r>
            <a:r>
              <a:rPr lang="ko-KR" altLang="en-US" dirty="0" err="1"/>
              <a:t>박시윤</a:t>
            </a:r>
            <a:endParaRPr lang="en-US" altLang="ko-KR" dirty="0"/>
          </a:p>
          <a:p>
            <a:pPr algn="r"/>
            <a:r>
              <a:rPr lang="en-US" altLang="ko-KR" dirty="0"/>
              <a:t>202311132</a:t>
            </a:r>
            <a:r>
              <a:rPr lang="ko-KR" altLang="en-US" dirty="0"/>
              <a:t> 이상아</a:t>
            </a:r>
            <a:endParaRPr lang="en-US" altLang="ko-KR" dirty="0"/>
          </a:p>
          <a:p>
            <a:pPr algn="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B9E8EC-C893-4765-972E-5AD916C73079}"/>
              </a:ext>
            </a:extLst>
          </p:cNvPr>
          <p:cNvSpPr/>
          <p:nvPr/>
        </p:nvSpPr>
        <p:spPr>
          <a:xfrm>
            <a:off x="0" y="1378316"/>
            <a:ext cx="245660" cy="1381444"/>
          </a:xfrm>
          <a:prstGeom prst="rect">
            <a:avLst/>
          </a:prstGeom>
          <a:solidFill>
            <a:srgbClr val="0B1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644AF3A-76B9-C1D5-D96D-69D66A140A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36" b="69717"/>
          <a:stretch/>
        </p:blipFill>
        <p:spPr>
          <a:xfrm>
            <a:off x="4405685" y="6153113"/>
            <a:ext cx="3380629" cy="70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1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1E544088-6778-4F44-92C2-682DC4896C93}"/>
              </a:ext>
            </a:extLst>
          </p:cNvPr>
          <p:cNvSpPr txBox="1">
            <a:spLocks/>
          </p:cNvSpPr>
          <p:nvPr/>
        </p:nvSpPr>
        <p:spPr>
          <a:xfrm>
            <a:off x="971768" y="559076"/>
            <a:ext cx="1383270" cy="5447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2400">
                <a:solidFill>
                  <a:srgbClr val="18181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E8379-6C9D-4BB7-8B3A-96097BA5F84B}"/>
              </a:ext>
            </a:extLst>
          </p:cNvPr>
          <p:cNvSpPr txBox="1"/>
          <p:nvPr/>
        </p:nvSpPr>
        <p:spPr>
          <a:xfrm>
            <a:off x="1448375" y="2628272"/>
            <a:ext cx="3980139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181818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lvl1pPr>
          </a:lstStyle>
          <a:p>
            <a:r>
              <a:rPr lang="en-US" altLang="ko-KR" dirty="0"/>
              <a:t>Project</a:t>
            </a:r>
            <a:r>
              <a:rPr lang="ko-KR" altLang="en-US" dirty="0"/>
              <a:t> </a:t>
            </a:r>
            <a:r>
              <a:rPr lang="en-US" altLang="ko-KR" dirty="0"/>
              <a:t>Report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54F31E-B90C-48D0-8610-B4496D4147E6}"/>
              </a:ext>
            </a:extLst>
          </p:cNvPr>
          <p:cNvSpPr txBox="1"/>
          <p:nvPr/>
        </p:nvSpPr>
        <p:spPr>
          <a:xfrm>
            <a:off x="1448375" y="2984523"/>
            <a:ext cx="4550408" cy="19851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2400">
                <a:solidFill>
                  <a:srgbClr val="18181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en-US" altLang="ko-KR" sz="2400" dirty="0"/>
              <a:t>Reinforcement Learning Modeling of </a:t>
            </a:r>
          </a:p>
          <a:p>
            <a:r>
              <a:rPr lang="en-US" altLang="ko-KR" sz="2400" dirty="0"/>
              <a:t>the Iowa Gambling Task</a:t>
            </a:r>
          </a:p>
          <a:p>
            <a:endParaRPr lang="ko-KR" altLang="en-US" sz="2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0517AB-CA1F-42D6-A7F6-D6EE7CF5884B}"/>
              </a:ext>
            </a:extLst>
          </p:cNvPr>
          <p:cNvSpPr txBox="1"/>
          <p:nvPr/>
        </p:nvSpPr>
        <p:spPr>
          <a:xfrm>
            <a:off x="6320853" y="1103841"/>
            <a:ext cx="4276571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Project overview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12CB8F-FC38-42FB-8F10-0C8EFBCE1021}"/>
              </a:ext>
            </a:extLst>
          </p:cNvPr>
          <p:cNvSpPr txBox="1"/>
          <p:nvPr/>
        </p:nvSpPr>
        <p:spPr>
          <a:xfrm>
            <a:off x="6320853" y="2033066"/>
            <a:ext cx="5279496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7B732B-A549-40A1-A802-F2AD10EAC1F5}"/>
              </a:ext>
            </a:extLst>
          </p:cNvPr>
          <p:cNvSpPr txBox="1"/>
          <p:nvPr/>
        </p:nvSpPr>
        <p:spPr>
          <a:xfrm>
            <a:off x="6320853" y="2962291"/>
            <a:ext cx="4276571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1913D-38D9-225A-895C-D0A2058CAE3C}"/>
              </a:ext>
            </a:extLst>
          </p:cNvPr>
          <p:cNvSpPr txBox="1"/>
          <p:nvPr/>
        </p:nvSpPr>
        <p:spPr>
          <a:xfrm>
            <a:off x="6320854" y="3891516"/>
            <a:ext cx="6192028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BC2CDB-5387-F1FE-8116-B25705DBBC32}"/>
              </a:ext>
            </a:extLst>
          </p:cNvPr>
          <p:cNvSpPr txBox="1"/>
          <p:nvPr/>
        </p:nvSpPr>
        <p:spPr>
          <a:xfrm>
            <a:off x="6320854" y="4820741"/>
            <a:ext cx="3512140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dirty="0"/>
              <a:t>5.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7EB7A-D28D-B5B2-49C8-70DF013E9F83}"/>
              </a:ext>
            </a:extLst>
          </p:cNvPr>
          <p:cNvSpPr txBox="1"/>
          <p:nvPr/>
        </p:nvSpPr>
        <p:spPr>
          <a:xfrm>
            <a:off x="6320854" y="5749965"/>
            <a:ext cx="3512140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dirty="0"/>
              <a:t>6.</a:t>
            </a:r>
            <a:r>
              <a:rPr lang="ko-KR" altLang="en-US" dirty="0"/>
              <a:t> </a:t>
            </a:r>
            <a:r>
              <a:rPr lang="en-US" altLang="ko-KR" dirty="0"/>
              <a:t>References and Resources</a:t>
            </a:r>
          </a:p>
        </p:txBody>
      </p:sp>
    </p:spTree>
    <p:extLst>
      <p:ext uri="{BB962C8B-B14F-4D97-AF65-F5344CB8AC3E}">
        <p14:creationId xmlns:p14="http://schemas.microsoft.com/office/powerpoint/2010/main" val="398220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E68D36-A736-48AF-AB30-8A4C61966E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Project overview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50F2879-F9CA-2BF1-1BEC-8A3127B38A37}"/>
              </a:ext>
            </a:extLst>
          </p:cNvPr>
          <p:cNvGrpSpPr/>
          <p:nvPr/>
        </p:nvGrpSpPr>
        <p:grpSpPr>
          <a:xfrm>
            <a:off x="886130" y="1277728"/>
            <a:ext cx="6780797" cy="544765"/>
            <a:chOff x="1206557" y="1499842"/>
            <a:chExt cx="6780797" cy="5447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B589E2-482E-8CAF-EA59-AA8620529E4C}"/>
                </a:ext>
              </a:extLst>
            </p:cNvPr>
            <p:cNvSpPr txBox="1"/>
            <p:nvPr/>
          </p:nvSpPr>
          <p:spPr>
            <a:xfrm>
              <a:off x="1473257" y="1499842"/>
              <a:ext cx="6514097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r>
                <a:rPr lang="en-US" altLang="ko-KR" dirty="0">
                  <a:solidFill>
                    <a:srgbClr val="0B1749"/>
                  </a:solidFill>
                </a:rPr>
                <a:t>Project overview</a:t>
              </a:r>
            </a:p>
          </p:txBody>
        </p:sp>
        <p:sp>
          <p:nvSpPr>
            <p:cNvPr id="7" name="평행 사변형 44">
              <a:extLst>
                <a:ext uri="{FF2B5EF4-FFF2-40B4-BE49-F238E27FC236}">
                  <a16:creationId xmlns:a16="http://schemas.microsoft.com/office/drawing/2014/main" id="{E613D42B-BEFF-A823-D0C3-4073BF76B9C5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4D4EFA-FD8F-4C54-C916-7C9F0D8E82E9}"/>
              </a:ext>
            </a:extLst>
          </p:cNvPr>
          <p:cNvSpPr/>
          <p:nvPr/>
        </p:nvSpPr>
        <p:spPr>
          <a:xfrm>
            <a:off x="8099469" y="2220114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Parameter estimation for each participant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using </a:t>
            </a:r>
            <a:r>
              <a:rPr kumimoji="1" lang="en-US" altLang="ko-KR" b="1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maximum likelihood estimation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B00815-6E4E-5555-E227-F5CE34027BC0}"/>
              </a:ext>
            </a:extLst>
          </p:cNvPr>
          <p:cNvSpPr/>
          <p:nvPr/>
        </p:nvSpPr>
        <p:spPr>
          <a:xfrm>
            <a:off x="4657268" y="2220114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Using Q-learning and Valence-specific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Q-learning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288308-5600-EC30-95A1-485384A65FFB}"/>
              </a:ext>
            </a:extLst>
          </p:cNvPr>
          <p:cNvSpPr/>
          <p:nvPr/>
        </p:nvSpPr>
        <p:spPr>
          <a:xfrm>
            <a:off x="1215067" y="2220115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Iowa Gambling Task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Environment Setup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BD6DFB-5385-9AD1-18EA-151522993976}"/>
              </a:ext>
            </a:extLst>
          </p:cNvPr>
          <p:cNvSpPr/>
          <p:nvPr/>
        </p:nvSpPr>
        <p:spPr>
          <a:xfrm>
            <a:off x="2938383" y="4398409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Run the RL model using median estimated parameters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to simulate average human behavior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6C440A-215A-23F5-2732-6FD2D5AD9B45}"/>
              </a:ext>
            </a:extLst>
          </p:cNvPr>
          <p:cNvSpPr/>
          <p:nvPr/>
        </p:nvSpPr>
        <p:spPr>
          <a:xfrm>
            <a:off x="6376155" y="4398409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Estimate parameters from each member’s</a:t>
            </a:r>
            <a:r>
              <a:rPr kumimoji="1" lang="ko-KR" altLang="en-US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data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and interpret them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in relation to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personality traits</a:t>
            </a:r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C7B16D3D-FB92-1676-8835-FF8377A36480}"/>
              </a:ext>
            </a:extLst>
          </p:cNvPr>
          <p:cNvSpPr/>
          <p:nvPr/>
        </p:nvSpPr>
        <p:spPr>
          <a:xfrm>
            <a:off x="4181583" y="3007895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BF3A9D4B-AD63-BDF8-3813-D6F65F191D37}"/>
              </a:ext>
            </a:extLst>
          </p:cNvPr>
          <p:cNvSpPr/>
          <p:nvPr/>
        </p:nvSpPr>
        <p:spPr>
          <a:xfrm>
            <a:off x="7620000" y="3007895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DB8E730D-B329-F174-5A43-37EC832D3630}"/>
              </a:ext>
            </a:extLst>
          </p:cNvPr>
          <p:cNvSpPr/>
          <p:nvPr/>
        </p:nvSpPr>
        <p:spPr>
          <a:xfrm>
            <a:off x="2436420" y="5165617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9B0A3FBB-FCAA-8EC0-1D3C-7B06A097B865}"/>
              </a:ext>
            </a:extLst>
          </p:cNvPr>
          <p:cNvSpPr/>
          <p:nvPr/>
        </p:nvSpPr>
        <p:spPr>
          <a:xfrm>
            <a:off x="5891073" y="5165617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FD430EC0-72C7-1485-A763-64BD916E4151}"/>
              </a:ext>
            </a:extLst>
          </p:cNvPr>
          <p:cNvSpPr/>
          <p:nvPr/>
        </p:nvSpPr>
        <p:spPr>
          <a:xfrm rot="2004712">
            <a:off x="5114932" y="5863989"/>
            <a:ext cx="773490" cy="774194"/>
          </a:xfrm>
          <a:prstGeom prst="halfFrame">
            <a:avLst>
              <a:gd name="adj1" fmla="val 13383"/>
              <a:gd name="adj2" fmla="val 166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41CD4-3A19-9A5A-B8A6-C81F4135F66A}"/>
              </a:ext>
            </a:extLst>
          </p:cNvPr>
          <p:cNvSpPr txBox="1"/>
          <p:nvPr/>
        </p:nvSpPr>
        <p:spPr>
          <a:xfrm>
            <a:off x="5233502" y="6196541"/>
            <a:ext cx="3081564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sz="1500" b="1" dirty="0">
                <a:solidFill>
                  <a:srgbClr val="FF0000"/>
                </a:solidFill>
              </a:rPr>
              <a:t>Add Clustering Procedure</a:t>
            </a: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0A210A8D-94DE-8B78-91C3-377C1ABF5EFC}"/>
              </a:ext>
            </a:extLst>
          </p:cNvPr>
          <p:cNvCxnSpPr>
            <a:cxnSpLocks/>
          </p:cNvCxnSpPr>
          <p:nvPr/>
        </p:nvCxnSpPr>
        <p:spPr>
          <a:xfrm>
            <a:off x="4570024" y="5615795"/>
            <a:ext cx="9316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FF664477-2D24-433E-1489-3DE0A45722EA}"/>
              </a:ext>
            </a:extLst>
          </p:cNvPr>
          <p:cNvCxnSpPr>
            <a:cxnSpLocks/>
          </p:cNvCxnSpPr>
          <p:nvPr/>
        </p:nvCxnSpPr>
        <p:spPr>
          <a:xfrm>
            <a:off x="3478225" y="5914844"/>
            <a:ext cx="16717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1/2 액자 2">
            <a:extLst>
              <a:ext uri="{FF2B5EF4-FFF2-40B4-BE49-F238E27FC236}">
                <a16:creationId xmlns:a16="http://schemas.microsoft.com/office/drawing/2014/main" id="{93511F6E-C254-FC73-6709-A61B8644AEE5}"/>
              </a:ext>
            </a:extLst>
          </p:cNvPr>
          <p:cNvSpPr/>
          <p:nvPr/>
        </p:nvSpPr>
        <p:spPr>
          <a:xfrm rot="2004712">
            <a:off x="10501599" y="3408672"/>
            <a:ext cx="773490" cy="774194"/>
          </a:xfrm>
          <a:prstGeom prst="halfFrame">
            <a:avLst>
              <a:gd name="adj1" fmla="val 13383"/>
              <a:gd name="adj2" fmla="val 166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F4411-E4F5-33E8-F1BB-44CE03772F4A}"/>
              </a:ext>
            </a:extLst>
          </p:cNvPr>
          <p:cNvSpPr txBox="1"/>
          <p:nvPr/>
        </p:nvSpPr>
        <p:spPr>
          <a:xfrm>
            <a:off x="9347562" y="3848812"/>
            <a:ext cx="3081564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sz="1500" b="1" dirty="0">
                <a:solidFill>
                  <a:srgbClr val="FF0000"/>
                </a:solidFill>
              </a:rPr>
              <a:t>Add Learners Classification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CABD54-814B-BD87-4F95-E93945AB916C}"/>
              </a:ext>
            </a:extLst>
          </p:cNvPr>
          <p:cNvSpPr/>
          <p:nvPr/>
        </p:nvSpPr>
        <p:spPr>
          <a:xfrm>
            <a:off x="886130" y="1947755"/>
            <a:ext cx="7014286" cy="2235126"/>
          </a:xfrm>
          <a:prstGeom prst="rect">
            <a:avLst/>
          </a:prstGeom>
          <a:noFill/>
          <a:ln w="76200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B6C63D-714B-F72A-F191-04B1AB2116E2}"/>
              </a:ext>
            </a:extLst>
          </p:cNvPr>
          <p:cNvSpPr txBox="1"/>
          <p:nvPr/>
        </p:nvSpPr>
        <p:spPr>
          <a:xfrm>
            <a:off x="6271731" y="1422593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287880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3" grpId="0" animBg="1"/>
      <p:bldP spid="5" grpId="0"/>
      <p:bldP spid="9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23D5-33B3-DB5C-60E4-53BFFE5B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D1045B-1C8D-73CB-111F-763BD29B53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Project overview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FFA746D-D241-20E7-4B5C-F9EC4AFB62A6}"/>
              </a:ext>
            </a:extLst>
          </p:cNvPr>
          <p:cNvGrpSpPr/>
          <p:nvPr/>
        </p:nvGrpSpPr>
        <p:grpSpPr>
          <a:xfrm>
            <a:off x="886130" y="1277728"/>
            <a:ext cx="6780797" cy="544765"/>
            <a:chOff x="1206557" y="1499842"/>
            <a:chExt cx="6780797" cy="5447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62EC4C-5355-F690-4835-3EFB9D2285FE}"/>
                </a:ext>
              </a:extLst>
            </p:cNvPr>
            <p:cNvSpPr txBox="1"/>
            <p:nvPr/>
          </p:nvSpPr>
          <p:spPr>
            <a:xfrm>
              <a:off x="1473257" y="1499842"/>
              <a:ext cx="6514097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r>
                <a:rPr lang="en-US" altLang="ko-KR" dirty="0">
                  <a:solidFill>
                    <a:srgbClr val="0B1749"/>
                  </a:solidFill>
                </a:rPr>
                <a:t>Project overview</a:t>
              </a:r>
            </a:p>
          </p:txBody>
        </p:sp>
        <p:sp>
          <p:nvSpPr>
            <p:cNvPr id="7" name="평행 사변형 44">
              <a:extLst>
                <a:ext uri="{FF2B5EF4-FFF2-40B4-BE49-F238E27FC236}">
                  <a16:creationId xmlns:a16="http://schemas.microsoft.com/office/drawing/2014/main" id="{98949FB7-6F1B-44F3-DBC9-985105195847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3D4F48-0949-D149-BBE1-E75E68280E2A}"/>
              </a:ext>
            </a:extLst>
          </p:cNvPr>
          <p:cNvSpPr/>
          <p:nvPr/>
        </p:nvSpPr>
        <p:spPr>
          <a:xfrm>
            <a:off x="8099469" y="2220114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Parameter estimation for each participant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using </a:t>
            </a:r>
            <a:r>
              <a:rPr kumimoji="1" lang="en-US" altLang="ko-KR" b="1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maximum likelihood estimation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B9A241-7504-9C4F-755C-D77258D0AB2A}"/>
              </a:ext>
            </a:extLst>
          </p:cNvPr>
          <p:cNvSpPr/>
          <p:nvPr/>
        </p:nvSpPr>
        <p:spPr>
          <a:xfrm>
            <a:off x="4657268" y="2220114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Using Q-learning and Valence-specific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Q-learning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9251DF-1F09-9F23-75DC-5CC790C5847C}"/>
              </a:ext>
            </a:extLst>
          </p:cNvPr>
          <p:cNvSpPr/>
          <p:nvPr/>
        </p:nvSpPr>
        <p:spPr>
          <a:xfrm>
            <a:off x="1215067" y="2220115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Iowa Gambling Task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Environment Setup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69432E-5DBA-D34F-433D-B7E17A923C2D}"/>
              </a:ext>
            </a:extLst>
          </p:cNvPr>
          <p:cNvSpPr/>
          <p:nvPr/>
        </p:nvSpPr>
        <p:spPr>
          <a:xfrm>
            <a:off x="2938383" y="4398409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Run the RL model using median estimated parameters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to simulate average human behavior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DE5B4C-A6D0-107A-93BC-1259931D34D2}"/>
              </a:ext>
            </a:extLst>
          </p:cNvPr>
          <p:cNvSpPr/>
          <p:nvPr/>
        </p:nvSpPr>
        <p:spPr>
          <a:xfrm>
            <a:off x="6376155" y="4398409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Estimate parameters from each member’s</a:t>
            </a:r>
            <a:r>
              <a:rPr kumimoji="1" lang="ko-KR" altLang="en-US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data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and interpret them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in relation to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personality traits</a:t>
            </a:r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297BF0E9-9B9F-0AFB-3E40-44DFC89A10F3}"/>
              </a:ext>
            </a:extLst>
          </p:cNvPr>
          <p:cNvSpPr/>
          <p:nvPr/>
        </p:nvSpPr>
        <p:spPr>
          <a:xfrm>
            <a:off x="4181583" y="3007895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5582158D-BE99-84FE-461E-6B8FFB0C3392}"/>
              </a:ext>
            </a:extLst>
          </p:cNvPr>
          <p:cNvSpPr/>
          <p:nvPr/>
        </p:nvSpPr>
        <p:spPr>
          <a:xfrm>
            <a:off x="7620000" y="3007895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B8AD6BBD-6761-6AC8-5D9D-8FCCDBCCBC06}"/>
              </a:ext>
            </a:extLst>
          </p:cNvPr>
          <p:cNvSpPr/>
          <p:nvPr/>
        </p:nvSpPr>
        <p:spPr>
          <a:xfrm>
            <a:off x="2436420" y="5165617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DA463DE0-0D7D-D95B-8663-5EB1C8A76BEE}"/>
              </a:ext>
            </a:extLst>
          </p:cNvPr>
          <p:cNvSpPr/>
          <p:nvPr/>
        </p:nvSpPr>
        <p:spPr>
          <a:xfrm>
            <a:off x="5891073" y="5165617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5C9EBA5D-AC96-0EB3-D52E-7FF8F2603092}"/>
              </a:ext>
            </a:extLst>
          </p:cNvPr>
          <p:cNvSpPr/>
          <p:nvPr/>
        </p:nvSpPr>
        <p:spPr>
          <a:xfrm rot="2004712">
            <a:off x="5114932" y="5863989"/>
            <a:ext cx="773490" cy="774194"/>
          </a:xfrm>
          <a:prstGeom prst="halfFrame">
            <a:avLst>
              <a:gd name="adj1" fmla="val 13383"/>
              <a:gd name="adj2" fmla="val 166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8AA34F-157F-7B64-A782-D0480874B74A}"/>
              </a:ext>
            </a:extLst>
          </p:cNvPr>
          <p:cNvSpPr txBox="1"/>
          <p:nvPr/>
        </p:nvSpPr>
        <p:spPr>
          <a:xfrm>
            <a:off x="5233502" y="6196541"/>
            <a:ext cx="3081564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sz="1500" b="1" dirty="0">
                <a:solidFill>
                  <a:srgbClr val="FF0000"/>
                </a:solidFill>
              </a:rPr>
              <a:t>Add Clustering Procedure</a:t>
            </a: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5A388701-B036-C4C2-B970-F8554BDC18F5}"/>
              </a:ext>
            </a:extLst>
          </p:cNvPr>
          <p:cNvCxnSpPr>
            <a:cxnSpLocks/>
          </p:cNvCxnSpPr>
          <p:nvPr/>
        </p:nvCxnSpPr>
        <p:spPr>
          <a:xfrm>
            <a:off x="4570024" y="5615795"/>
            <a:ext cx="9316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A7BC2AD7-DF2A-67E5-E66C-E14631C61B3B}"/>
              </a:ext>
            </a:extLst>
          </p:cNvPr>
          <p:cNvCxnSpPr>
            <a:cxnSpLocks/>
          </p:cNvCxnSpPr>
          <p:nvPr/>
        </p:nvCxnSpPr>
        <p:spPr>
          <a:xfrm>
            <a:off x="3478225" y="5914844"/>
            <a:ext cx="16717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1/2 액자 2">
            <a:extLst>
              <a:ext uri="{FF2B5EF4-FFF2-40B4-BE49-F238E27FC236}">
                <a16:creationId xmlns:a16="http://schemas.microsoft.com/office/drawing/2014/main" id="{A931C13E-F29F-5E28-0561-FAFD5B71A553}"/>
              </a:ext>
            </a:extLst>
          </p:cNvPr>
          <p:cNvSpPr/>
          <p:nvPr/>
        </p:nvSpPr>
        <p:spPr>
          <a:xfrm rot="2004712">
            <a:off x="10501599" y="3408672"/>
            <a:ext cx="773490" cy="774194"/>
          </a:xfrm>
          <a:prstGeom prst="halfFrame">
            <a:avLst>
              <a:gd name="adj1" fmla="val 13383"/>
              <a:gd name="adj2" fmla="val 166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A4AD2-F602-6B52-C634-C9E775A59FC9}"/>
              </a:ext>
            </a:extLst>
          </p:cNvPr>
          <p:cNvSpPr txBox="1"/>
          <p:nvPr/>
        </p:nvSpPr>
        <p:spPr>
          <a:xfrm>
            <a:off x="9347562" y="3848812"/>
            <a:ext cx="3081564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sz="1500" b="1" dirty="0">
                <a:solidFill>
                  <a:srgbClr val="FF0000"/>
                </a:solidFill>
              </a:rPr>
              <a:t>Add Learners Classification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F39F50-B71F-E8CF-8787-05184DC1ECA8}"/>
              </a:ext>
            </a:extLst>
          </p:cNvPr>
          <p:cNvSpPr/>
          <p:nvPr/>
        </p:nvSpPr>
        <p:spPr>
          <a:xfrm>
            <a:off x="4377115" y="1947755"/>
            <a:ext cx="7400357" cy="2235126"/>
          </a:xfrm>
          <a:prstGeom prst="rect">
            <a:avLst/>
          </a:prstGeom>
          <a:noFill/>
          <a:ln w="76200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C6E3DC-A0BC-37CD-2996-1A891DCA2372}"/>
              </a:ext>
            </a:extLst>
          </p:cNvPr>
          <p:cNvSpPr txBox="1"/>
          <p:nvPr/>
        </p:nvSpPr>
        <p:spPr>
          <a:xfrm>
            <a:off x="4241537" y="1396584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</p:spTree>
    <p:extLst>
      <p:ext uri="{BB962C8B-B14F-4D97-AF65-F5344CB8AC3E}">
        <p14:creationId xmlns:p14="http://schemas.microsoft.com/office/powerpoint/2010/main" val="63475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FF94D-4C22-BD92-4FC4-19F280D1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50E1D0-68B4-8E2D-DCE7-E0EC557831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Project overview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32180AD-0DB8-D7CB-FC0C-54E301EADABF}"/>
              </a:ext>
            </a:extLst>
          </p:cNvPr>
          <p:cNvGrpSpPr/>
          <p:nvPr/>
        </p:nvGrpSpPr>
        <p:grpSpPr>
          <a:xfrm>
            <a:off x="886130" y="1277728"/>
            <a:ext cx="6780797" cy="544765"/>
            <a:chOff x="1206557" y="1499842"/>
            <a:chExt cx="6780797" cy="5447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00E584-735B-CF05-E203-7FFF8BC2381E}"/>
                </a:ext>
              </a:extLst>
            </p:cNvPr>
            <p:cNvSpPr txBox="1"/>
            <p:nvPr/>
          </p:nvSpPr>
          <p:spPr>
            <a:xfrm>
              <a:off x="1473257" y="1499842"/>
              <a:ext cx="6514097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r>
                <a:rPr lang="en-US" altLang="ko-KR" dirty="0">
                  <a:solidFill>
                    <a:srgbClr val="0B1749"/>
                  </a:solidFill>
                </a:rPr>
                <a:t>Project overview</a:t>
              </a:r>
            </a:p>
          </p:txBody>
        </p:sp>
        <p:sp>
          <p:nvSpPr>
            <p:cNvPr id="7" name="평행 사변형 44">
              <a:extLst>
                <a:ext uri="{FF2B5EF4-FFF2-40B4-BE49-F238E27FC236}">
                  <a16:creationId xmlns:a16="http://schemas.microsoft.com/office/drawing/2014/main" id="{92D34F64-9713-F7BE-8A43-1A28D74FED8E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EBC4A4-D4D7-7EAD-2D4F-C03349CA3657}"/>
              </a:ext>
            </a:extLst>
          </p:cNvPr>
          <p:cNvSpPr/>
          <p:nvPr/>
        </p:nvSpPr>
        <p:spPr>
          <a:xfrm>
            <a:off x="8099469" y="2220114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Parameter estimation for each participant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using </a:t>
            </a:r>
            <a:r>
              <a:rPr kumimoji="1" lang="en-US" altLang="ko-KR" b="1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maximum likelihood estimation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91D6DB-A245-C7B0-242D-2269AF981D01}"/>
              </a:ext>
            </a:extLst>
          </p:cNvPr>
          <p:cNvSpPr/>
          <p:nvPr/>
        </p:nvSpPr>
        <p:spPr>
          <a:xfrm>
            <a:off x="4657268" y="2220114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Using Q-learning and Valence-specific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Q-learning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63CFA7-70F4-CA87-02AD-A7DA486D9719}"/>
              </a:ext>
            </a:extLst>
          </p:cNvPr>
          <p:cNvSpPr/>
          <p:nvPr/>
        </p:nvSpPr>
        <p:spPr>
          <a:xfrm>
            <a:off x="1215067" y="2220115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Iowa Gambling Task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Environment Setup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6D7F04-ECA1-126F-CEA4-7F2F69582327}"/>
              </a:ext>
            </a:extLst>
          </p:cNvPr>
          <p:cNvSpPr/>
          <p:nvPr/>
        </p:nvSpPr>
        <p:spPr>
          <a:xfrm>
            <a:off x="2938383" y="4398409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Run the RL model using median estimated parameters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to simulate average human behavior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5A93706-7750-BC4C-96E5-2D0E90ADF379}"/>
              </a:ext>
            </a:extLst>
          </p:cNvPr>
          <p:cNvSpPr/>
          <p:nvPr/>
        </p:nvSpPr>
        <p:spPr>
          <a:xfrm>
            <a:off x="6376155" y="4398409"/>
            <a:ext cx="2877464" cy="170848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Estimate parameters from each member’s</a:t>
            </a:r>
            <a:r>
              <a:rPr kumimoji="1" lang="ko-KR" altLang="en-US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data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and interpret them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in relation to </a:t>
            </a:r>
          </a:p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personality traits</a:t>
            </a:r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42DD71B5-5780-74B4-670F-8F33E68AFA71}"/>
              </a:ext>
            </a:extLst>
          </p:cNvPr>
          <p:cNvSpPr/>
          <p:nvPr/>
        </p:nvSpPr>
        <p:spPr>
          <a:xfrm>
            <a:off x="4181583" y="3007895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5685D33F-3C69-F03C-F928-AF6AF71B863E}"/>
              </a:ext>
            </a:extLst>
          </p:cNvPr>
          <p:cNvSpPr/>
          <p:nvPr/>
        </p:nvSpPr>
        <p:spPr>
          <a:xfrm>
            <a:off x="7620000" y="3007895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3EF3DCDA-69D5-E25E-05CE-BDBA86E711B5}"/>
              </a:ext>
            </a:extLst>
          </p:cNvPr>
          <p:cNvSpPr/>
          <p:nvPr/>
        </p:nvSpPr>
        <p:spPr>
          <a:xfrm>
            <a:off x="2436420" y="5165617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0ABF841E-A088-F39B-AB2C-0E82E46EDD5D}"/>
              </a:ext>
            </a:extLst>
          </p:cNvPr>
          <p:cNvSpPr/>
          <p:nvPr/>
        </p:nvSpPr>
        <p:spPr>
          <a:xfrm>
            <a:off x="5891073" y="5165617"/>
            <a:ext cx="434758" cy="307194"/>
          </a:xfrm>
          <a:prstGeom prst="rightArrow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8" name="1/2 액자 7">
            <a:extLst>
              <a:ext uri="{FF2B5EF4-FFF2-40B4-BE49-F238E27FC236}">
                <a16:creationId xmlns:a16="http://schemas.microsoft.com/office/drawing/2014/main" id="{26EE2E2E-0D09-E133-BE5A-1EDC4E685A2D}"/>
              </a:ext>
            </a:extLst>
          </p:cNvPr>
          <p:cNvSpPr/>
          <p:nvPr/>
        </p:nvSpPr>
        <p:spPr>
          <a:xfrm rot="2004712">
            <a:off x="5114932" y="5863989"/>
            <a:ext cx="773490" cy="774194"/>
          </a:xfrm>
          <a:prstGeom prst="halfFrame">
            <a:avLst>
              <a:gd name="adj1" fmla="val 13383"/>
              <a:gd name="adj2" fmla="val 166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F074F-AABE-B8A8-D8FF-75B2AB84904B}"/>
              </a:ext>
            </a:extLst>
          </p:cNvPr>
          <p:cNvSpPr txBox="1"/>
          <p:nvPr/>
        </p:nvSpPr>
        <p:spPr>
          <a:xfrm>
            <a:off x="5233502" y="6196541"/>
            <a:ext cx="3081564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sz="1500" b="1" dirty="0">
                <a:solidFill>
                  <a:srgbClr val="FF0000"/>
                </a:solidFill>
              </a:rPr>
              <a:t>Add Clustering Procedure</a:t>
            </a:r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434F33A6-C295-19A5-0417-A664E1EAD0E8}"/>
              </a:ext>
            </a:extLst>
          </p:cNvPr>
          <p:cNvCxnSpPr>
            <a:cxnSpLocks/>
          </p:cNvCxnSpPr>
          <p:nvPr/>
        </p:nvCxnSpPr>
        <p:spPr>
          <a:xfrm>
            <a:off x="4570024" y="5615795"/>
            <a:ext cx="9316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C144D2D2-5A7A-FE9B-9D38-47683ACAECB8}"/>
              </a:ext>
            </a:extLst>
          </p:cNvPr>
          <p:cNvCxnSpPr>
            <a:cxnSpLocks/>
          </p:cNvCxnSpPr>
          <p:nvPr/>
        </p:nvCxnSpPr>
        <p:spPr>
          <a:xfrm>
            <a:off x="3478225" y="5914844"/>
            <a:ext cx="16717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1/2 액자 2">
            <a:extLst>
              <a:ext uri="{FF2B5EF4-FFF2-40B4-BE49-F238E27FC236}">
                <a16:creationId xmlns:a16="http://schemas.microsoft.com/office/drawing/2014/main" id="{40B77BA5-1031-48AE-A56E-D294978829E6}"/>
              </a:ext>
            </a:extLst>
          </p:cNvPr>
          <p:cNvSpPr/>
          <p:nvPr/>
        </p:nvSpPr>
        <p:spPr>
          <a:xfrm rot="2004712">
            <a:off x="10501599" y="3408672"/>
            <a:ext cx="773490" cy="774194"/>
          </a:xfrm>
          <a:prstGeom prst="halfFrame">
            <a:avLst>
              <a:gd name="adj1" fmla="val 13383"/>
              <a:gd name="adj2" fmla="val 166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0CC1F-01DB-DE3A-586D-6CEA1DDB189F}"/>
              </a:ext>
            </a:extLst>
          </p:cNvPr>
          <p:cNvSpPr txBox="1"/>
          <p:nvPr/>
        </p:nvSpPr>
        <p:spPr>
          <a:xfrm>
            <a:off x="9347562" y="3848812"/>
            <a:ext cx="3081564" cy="37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sz="1500" b="1" dirty="0">
                <a:solidFill>
                  <a:srgbClr val="FF0000"/>
                </a:solidFill>
              </a:rPr>
              <a:t>Add Learners Classification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300B1C-99C6-A283-5758-F8A4BA57BE70}"/>
              </a:ext>
            </a:extLst>
          </p:cNvPr>
          <p:cNvSpPr/>
          <p:nvPr/>
        </p:nvSpPr>
        <p:spPr>
          <a:xfrm>
            <a:off x="2150958" y="4223916"/>
            <a:ext cx="7817501" cy="2347728"/>
          </a:xfrm>
          <a:prstGeom prst="rect">
            <a:avLst/>
          </a:prstGeom>
          <a:noFill/>
          <a:ln w="76200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6E6E9B-F738-7A65-5BD6-21EF28D1945E}"/>
              </a:ext>
            </a:extLst>
          </p:cNvPr>
          <p:cNvSpPr txBox="1"/>
          <p:nvPr/>
        </p:nvSpPr>
        <p:spPr>
          <a:xfrm>
            <a:off x="574005" y="4223915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360313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F90AC-0388-7304-F239-7369DD88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8DB27B-1AAE-6DE3-AF4D-D4B9FCFD8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8" y="139009"/>
            <a:ext cx="7491285" cy="766364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  <a:endParaRPr lang="ko-KR" altLang="en-US" dirty="0"/>
          </a:p>
        </p:txBody>
      </p:sp>
      <p:sp>
        <p:nvSpPr>
          <p:cNvPr id="11" name="갈매기형 수장 14">
            <a:extLst>
              <a:ext uri="{FF2B5EF4-FFF2-40B4-BE49-F238E27FC236}">
                <a16:creationId xmlns:a16="http://schemas.microsoft.com/office/drawing/2014/main" id="{387BDD05-AE56-E43F-1946-4912871E024F}"/>
              </a:ext>
            </a:extLst>
          </p:cNvPr>
          <p:cNvSpPr/>
          <p:nvPr/>
        </p:nvSpPr>
        <p:spPr>
          <a:xfrm>
            <a:off x="7648111" y="3200211"/>
            <a:ext cx="3139529" cy="571546"/>
          </a:xfrm>
          <a:prstGeom prst="chevron">
            <a:avLst/>
          </a:prstGeom>
          <a:solidFill>
            <a:srgbClr val="0B1749"/>
          </a:solidFill>
          <a:ln>
            <a:solidFill>
              <a:srgbClr val="0B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갈매기형 수장 15">
            <a:extLst>
              <a:ext uri="{FF2B5EF4-FFF2-40B4-BE49-F238E27FC236}">
                <a16:creationId xmlns:a16="http://schemas.microsoft.com/office/drawing/2014/main" id="{DC761D7E-B293-3018-A5C1-9C8C34F23C6A}"/>
              </a:ext>
            </a:extLst>
          </p:cNvPr>
          <p:cNvSpPr/>
          <p:nvPr/>
        </p:nvSpPr>
        <p:spPr>
          <a:xfrm>
            <a:off x="4508581" y="3225410"/>
            <a:ext cx="3139529" cy="571546"/>
          </a:xfrm>
          <a:prstGeom prst="chevron">
            <a:avLst/>
          </a:prstGeom>
          <a:solidFill>
            <a:srgbClr val="256080"/>
          </a:solidFill>
          <a:ln>
            <a:solidFill>
              <a:srgbClr val="2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갈매기형 수장 16">
            <a:extLst>
              <a:ext uri="{FF2B5EF4-FFF2-40B4-BE49-F238E27FC236}">
                <a16:creationId xmlns:a16="http://schemas.microsoft.com/office/drawing/2014/main" id="{E9C6A0B2-3446-C9FC-41C4-50C114A6A019}"/>
              </a:ext>
            </a:extLst>
          </p:cNvPr>
          <p:cNvSpPr/>
          <p:nvPr/>
        </p:nvSpPr>
        <p:spPr>
          <a:xfrm>
            <a:off x="1369052" y="3224639"/>
            <a:ext cx="3139529" cy="571546"/>
          </a:xfrm>
          <a:prstGeom prst="chevron">
            <a:avLst/>
          </a:prstGeom>
          <a:solidFill>
            <a:srgbClr val="5BA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5608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7E0433C-C3A7-AF17-F1B9-E7AC862A39FB}"/>
              </a:ext>
            </a:extLst>
          </p:cNvPr>
          <p:cNvSpPr/>
          <p:nvPr/>
        </p:nvSpPr>
        <p:spPr>
          <a:xfrm>
            <a:off x="2688564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5608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B55269E-1BEE-9756-30F0-17B49ECFA6BA}"/>
              </a:ext>
            </a:extLst>
          </p:cNvPr>
          <p:cNvSpPr/>
          <p:nvPr/>
        </p:nvSpPr>
        <p:spPr>
          <a:xfrm>
            <a:off x="5957016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37A5631-1049-A2CB-9444-8F29F8DDA318}"/>
              </a:ext>
            </a:extLst>
          </p:cNvPr>
          <p:cNvSpPr/>
          <p:nvPr/>
        </p:nvSpPr>
        <p:spPr>
          <a:xfrm>
            <a:off x="9073792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E79F6A-CAA8-D3BC-A982-49A963F752D3}"/>
              </a:ext>
            </a:extLst>
          </p:cNvPr>
          <p:cNvSpPr txBox="1"/>
          <p:nvPr/>
        </p:nvSpPr>
        <p:spPr>
          <a:xfrm>
            <a:off x="1967193" y="3947479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07CBF8-AFFE-FE69-AA3B-1C00BD129CFF}"/>
              </a:ext>
            </a:extLst>
          </p:cNvPr>
          <p:cNvSpPr txBox="1"/>
          <p:nvPr/>
        </p:nvSpPr>
        <p:spPr>
          <a:xfrm>
            <a:off x="5129345" y="2688483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2C770D-A0BE-15F3-761B-2C0C8CAA7F50}"/>
              </a:ext>
            </a:extLst>
          </p:cNvPr>
          <p:cNvSpPr txBox="1"/>
          <p:nvPr/>
        </p:nvSpPr>
        <p:spPr>
          <a:xfrm>
            <a:off x="8370355" y="3947479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794BFC-3BB8-463E-056A-41C9CFF71E4E}"/>
              </a:ext>
            </a:extLst>
          </p:cNvPr>
          <p:cNvSpPr txBox="1"/>
          <p:nvPr/>
        </p:nvSpPr>
        <p:spPr>
          <a:xfrm>
            <a:off x="1475851" y="4740057"/>
            <a:ext cx="26680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environment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Early MLE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3D796B-53EE-0EDF-DAF4-75D90AF98E02}"/>
              </a:ext>
            </a:extLst>
          </p:cNvPr>
          <p:cNvSpPr txBox="1"/>
          <p:nvPr/>
        </p:nvSpPr>
        <p:spPr>
          <a:xfrm>
            <a:off x="3019605" y="1457518"/>
            <a:ext cx="5869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VS 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Complete fully MLE code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See the distribution of estimated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2B7FCA-4ED4-19D1-466B-7C48F241146D}"/>
              </a:ext>
            </a:extLst>
          </p:cNvPr>
          <p:cNvSpPr txBox="1"/>
          <p:nvPr/>
        </p:nvSpPr>
        <p:spPr>
          <a:xfrm>
            <a:off x="6946514" y="4470896"/>
            <a:ext cx="4254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Cluster learner dataset</a:t>
            </a:r>
          </a:p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Find the mean parameters of each clusters</a:t>
            </a:r>
          </a:p>
          <a:p>
            <a:pPr algn="ctr"/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- Estimate parameters of each members and simulate on IGT environment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C397DB-20AC-FCBD-E8E7-E9C88FAA58E4}"/>
              </a:ext>
            </a:extLst>
          </p:cNvPr>
          <p:cNvSpPr/>
          <p:nvPr/>
        </p:nvSpPr>
        <p:spPr>
          <a:xfrm>
            <a:off x="1369052" y="4586586"/>
            <a:ext cx="2974348" cy="1308034"/>
          </a:xfrm>
          <a:prstGeom prst="rect">
            <a:avLst/>
          </a:prstGeom>
          <a:noFill/>
          <a:ln w="28575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027DDB1-1AAE-CD15-9B92-4B09131A1B5C}"/>
              </a:ext>
            </a:extLst>
          </p:cNvPr>
          <p:cNvSpPr/>
          <p:nvPr/>
        </p:nvSpPr>
        <p:spPr>
          <a:xfrm>
            <a:off x="3021406" y="1232644"/>
            <a:ext cx="5867215" cy="1308034"/>
          </a:xfrm>
          <a:prstGeom prst="rect">
            <a:avLst/>
          </a:prstGeom>
          <a:noFill/>
          <a:ln w="28575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B392320-DECE-0830-098E-798BF2C938D0}"/>
              </a:ext>
            </a:extLst>
          </p:cNvPr>
          <p:cNvSpPr/>
          <p:nvPr/>
        </p:nvSpPr>
        <p:spPr>
          <a:xfrm>
            <a:off x="6946514" y="4431290"/>
            <a:ext cx="4434500" cy="1978598"/>
          </a:xfrm>
          <a:prstGeom prst="rect">
            <a:avLst/>
          </a:prstGeom>
          <a:noFill/>
          <a:ln w="28575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3636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6D16-66D6-999A-C74B-E85249EE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A3180F-F220-E1E2-4E87-86CC79ECE9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8" y="139009"/>
            <a:ext cx="7491285" cy="766364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  <a:endParaRPr lang="ko-KR" altLang="en-US" dirty="0"/>
          </a:p>
        </p:txBody>
      </p:sp>
      <p:sp>
        <p:nvSpPr>
          <p:cNvPr id="11" name="갈매기형 수장 14">
            <a:extLst>
              <a:ext uri="{FF2B5EF4-FFF2-40B4-BE49-F238E27FC236}">
                <a16:creationId xmlns:a16="http://schemas.microsoft.com/office/drawing/2014/main" id="{F14F9F5F-27BB-3D5A-B70C-699F0035803B}"/>
              </a:ext>
            </a:extLst>
          </p:cNvPr>
          <p:cNvSpPr/>
          <p:nvPr/>
        </p:nvSpPr>
        <p:spPr>
          <a:xfrm>
            <a:off x="7648111" y="3200211"/>
            <a:ext cx="3139529" cy="571546"/>
          </a:xfrm>
          <a:prstGeom prst="chevron">
            <a:avLst/>
          </a:prstGeom>
          <a:solidFill>
            <a:srgbClr val="0B1749"/>
          </a:solidFill>
          <a:ln>
            <a:solidFill>
              <a:srgbClr val="0B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갈매기형 수장 15">
            <a:extLst>
              <a:ext uri="{FF2B5EF4-FFF2-40B4-BE49-F238E27FC236}">
                <a16:creationId xmlns:a16="http://schemas.microsoft.com/office/drawing/2014/main" id="{1B31382C-1853-3218-23A9-79A4FF924298}"/>
              </a:ext>
            </a:extLst>
          </p:cNvPr>
          <p:cNvSpPr/>
          <p:nvPr/>
        </p:nvSpPr>
        <p:spPr>
          <a:xfrm>
            <a:off x="4508581" y="3225410"/>
            <a:ext cx="3139529" cy="571546"/>
          </a:xfrm>
          <a:prstGeom prst="chevron">
            <a:avLst/>
          </a:prstGeom>
          <a:solidFill>
            <a:srgbClr val="256080"/>
          </a:solidFill>
          <a:ln>
            <a:solidFill>
              <a:srgbClr val="2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갈매기형 수장 16">
            <a:extLst>
              <a:ext uri="{FF2B5EF4-FFF2-40B4-BE49-F238E27FC236}">
                <a16:creationId xmlns:a16="http://schemas.microsoft.com/office/drawing/2014/main" id="{8913BC6A-FB85-F7CB-FBCC-2DF521899A85}"/>
              </a:ext>
            </a:extLst>
          </p:cNvPr>
          <p:cNvSpPr/>
          <p:nvPr/>
        </p:nvSpPr>
        <p:spPr>
          <a:xfrm>
            <a:off x="1369052" y="3224639"/>
            <a:ext cx="3139529" cy="571546"/>
          </a:xfrm>
          <a:prstGeom prst="chevron">
            <a:avLst/>
          </a:prstGeom>
          <a:solidFill>
            <a:srgbClr val="5BA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5608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B88488B-6451-03C7-0674-6A6CCAA74934}"/>
              </a:ext>
            </a:extLst>
          </p:cNvPr>
          <p:cNvSpPr/>
          <p:nvPr/>
        </p:nvSpPr>
        <p:spPr>
          <a:xfrm>
            <a:off x="2688564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5608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BD9B8D8-A87C-396F-EA4D-94E91FB96709}"/>
              </a:ext>
            </a:extLst>
          </p:cNvPr>
          <p:cNvSpPr/>
          <p:nvPr/>
        </p:nvSpPr>
        <p:spPr>
          <a:xfrm>
            <a:off x="5957016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DAB8CA5-0401-5035-FC97-EDE8A38032F0}"/>
              </a:ext>
            </a:extLst>
          </p:cNvPr>
          <p:cNvSpPr/>
          <p:nvPr/>
        </p:nvSpPr>
        <p:spPr>
          <a:xfrm>
            <a:off x="9073792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F39B8E-144E-8C55-8A48-0B747A3330FE}"/>
              </a:ext>
            </a:extLst>
          </p:cNvPr>
          <p:cNvSpPr txBox="1"/>
          <p:nvPr/>
        </p:nvSpPr>
        <p:spPr>
          <a:xfrm>
            <a:off x="1967193" y="3947479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F1750-5639-6437-A798-090D1D5610CB}"/>
              </a:ext>
            </a:extLst>
          </p:cNvPr>
          <p:cNvSpPr txBox="1"/>
          <p:nvPr/>
        </p:nvSpPr>
        <p:spPr>
          <a:xfrm>
            <a:off x="5129345" y="2688483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9DB5AC-5CEB-E440-E191-FA8B7ACFE5F4}"/>
              </a:ext>
            </a:extLst>
          </p:cNvPr>
          <p:cNvSpPr txBox="1"/>
          <p:nvPr/>
        </p:nvSpPr>
        <p:spPr>
          <a:xfrm>
            <a:off x="8370355" y="3947479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0044BA-DBA7-1731-4714-A452938FBB2A}"/>
              </a:ext>
            </a:extLst>
          </p:cNvPr>
          <p:cNvSpPr txBox="1"/>
          <p:nvPr/>
        </p:nvSpPr>
        <p:spPr>
          <a:xfrm>
            <a:off x="1475851" y="4740057"/>
            <a:ext cx="26680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environment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Early MLE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786CD6-614F-8378-ABDA-A464D16CD10F}"/>
              </a:ext>
            </a:extLst>
          </p:cNvPr>
          <p:cNvSpPr txBox="1"/>
          <p:nvPr/>
        </p:nvSpPr>
        <p:spPr>
          <a:xfrm>
            <a:off x="3019605" y="1457518"/>
            <a:ext cx="5869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VS 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Complete fully MLE code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See the distribution of estimated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827973-C2A0-17B5-0A28-02DAAB3DC06E}"/>
              </a:ext>
            </a:extLst>
          </p:cNvPr>
          <p:cNvSpPr txBox="1"/>
          <p:nvPr/>
        </p:nvSpPr>
        <p:spPr>
          <a:xfrm>
            <a:off x="6946514" y="4470896"/>
            <a:ext cx="4254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Cluster learner dataset</a:t>
            </a:r>
          </a:p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Find the mean parameters of each clusters</a:t>
            </a:r>
          </a:p>
          <a:p>
            <a:pPr algn="ctr"/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- Estimate parameters of each members and simulate on IGT environment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37CC44-8BBA-7D6E-D3BC-1D7806E953F5}"/>
              </a:ext>
            </a:extLst>
          </p:cNvPr>
          <p:cNvSpPr/>
          <p:nvPr/>
        </p:nvSpPr>
        <p:spPr>
          <a:xfrm>
            <a:off x="1369052" y="4586586"/>
            <a:ext cx="2974348" cy="1308034"/>
          </a:xfrm>
          <a:prstGeom prst="rect">
            <a:avLst/>
          </a:prstGeom>
          <a:noFill/>
          <a:ln w="28575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865AFA-85E7-0B2F-AA0C-6F2C64316EFB}"/>
              </a:ext>
            </a:extLst>
          </p:cNvPr>
          <p:cNvSpPr/>
          <p:nvPr/>
        </p:nvSpPr>
        <p:spPr>
          <a:xfrm>
            <a:off x="3021406" y="1232644"/>
            <a:ext cx="5867215" cy="1308034"/>
          </a:xfrm>
          <a:prstGeom prst="rect">
            <a:avLst/>
          </a:prstGeom>
          <a:noFill/>
          <a:ln w="28575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AF89381-F83E-6B47-B7CC-B83CB09A2CFA}"/>
              </a:ext>
            </a:extLst>
          </p:cNvPr>
          <p:cNvSpPr/>
          <p:nvPr/>
        </p:nvSpPr>
        <p:spPr>
          <a:xfrm>
            <a:off x="6946514" y="4431290"/>
            <a:ext cx="4434500" cy="1978598"/>
          </a:xfrm>
          <a:prstGeom prst="rect">
            <a:avLst/>
          </a:prstGeom>
          <a:noFill/>
          <a:ln w="28575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1C937F52-28E3-2635-E97C-6622A3BB0628}"/>
              </a:ext>
            </a:extLst>
          </p:cNvPr>
          <p:cNvCxnSpPr>
            <a:cxnSpLocks/>
          </p:cNvCxnSpPr>
          <p:nvPr/>
        </p:nvCxnSpPr>
        <p:spPr>
          <a:xfrm>
            <a:off x="1950222" y="5067946"/>
            <a:ext cx="19450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F08A12D3-F09C-486D-E2AA-F061DD82DB7D}"/>
              </a:ext>
            </a:extLst>
          </p:cNvPr>
          <p:cNvCxnSpPr>
            <a:cxnSpLocks/>
          </p:cNvCxnSpPr>
          <p:nvPr/>
        </p:nvCxnSpPr>
        <p:spPr>
          <a:xfrm>
            <a:off x="2047086" y="5375329"/>
            <a:ext cx="19450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D269A307-5A69-4503-6690-1BE7899CEEF4}"/>
              </a:ext>
            </a:extLst>
          </p:cNvPr>
          <p:cNvCxnSpPr>
            <a:cxnSpLocks/>
          </p:cNvCxnSpPr>
          <p:nvPr/>
        </p:nvCxnSpPr>
        <p:spPr>
          <a:xfrm>
            <a:off x="4984497" y="1733228"/>
            <a:ext cx="22687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4067C92-753D-A046-33DB-74C25EEF024B}"/>
              </a:ext>
            </a:extLst>
          </p:cNvPr>
          <p:cNvCxnSpPr>
            <a:cxnSpLocks/>
          </p:cNvCxnSpPr>
          <p:nvPr/>
        </p:nvCxnSpPr>
        <p:spPr>
          <a:xfrm>
            <a:off x="3536062" y="2353160"/>
            <a:ext cx="51584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CA255C2D-731A-6959-B1EA-6C75D8178034}"/>
              </a:ext>
            </a:extLst>
          </p:cNvPr>
          <p:cNvCxnSpPr>
            <a:cxnSpLocks/>
          </p:cNvCxnSpPr>
          <p:nvPr/>
        </p:nvCxnSpPr>
        <p:spPr>
          <a:xfrm>
            <a:off x="7916102" y="4740057"/>
            <a:ext cx="26382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F1F7CF23-39FD-457A-BC7C-D4C1F5F10ACE}"/>
              </a:ext>
            </a:extLst>
          </p:cNvPr>
          <p:cNvCxnSpPr>
            <a:cxnSpLocks/>
          </p:cNvCxnSpPr>
          <p:nvPr/>
        </p:nvCxnSpPr>
        <p:spPr>
          <a:xfrm>
            <a:off x="7588212" y="5067946"/>
            <a:ext cx="31994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87C8134B-8803-9A31-6834-865841CA63BE}"/>
              </a:ext>
            </a:extLst>
          </p:cNvPr>
          <p:cNvCxnSpPr>
            <a:cxnSpLocks/>
          </p:cNvCxnSpPr>
          <p:nvPr/>
        </p:nvCxnSpPr>
        <p:spPr>
          <a:xfrm>
            <a:off x="8370355" y="5375329"/>
            <a:ext cx="16495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2343D8E-0E9A-624B-115D-BAB7ABE7E990}"/>
              </a:ext>
            </a:extLst>
          </p:cNvPr>
          <p:cNvSpPr txBox="1"/>
          <p:nvPr/>
        </p:nvSpPr>
        <p:spPr>
          <a:xfrm>
            <a:off x="941683" y="1548562"/>
            <a:ext cx="3150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강승수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738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BB89-62D7-DB5F-1DF6-EE6DE54B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5B836A-C267-C888-4C83-1D4049070B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8" y="139009"/>
            <a:ext cx="7491285" cy="766364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  <a:endParaRPr lang="ko-KR" altLang="en-US" dirty="0"/>
          </a:p>
        </p:txBody>
      </p:sp>
      <p:sp>
        <p:nvSpPr>
          <p:cNvPr id="11" name="갈매기형 수장 14">
            <a:extLst>
              <a:ext uri="{FF2B5EF4-FFF2-40B4-BE49-F238E27FC236}">
                <a16:creationId xmlns:a16="http://schemas.microsoft.com/office/drawing/2014/main" id="{31AF2A0F-A422-AFC7-AFFF-C966EF49D042}"/>
              </a:ext>
            </a:extLst>
          </p:cNvPr>
          <p:cNvSpPr/>
          <p:nvPr/>
        </p:nvSpPr>
        <p:spPr>
          <a:xfrm>
            <a:off x="7648111" y="3200211"/>
            <a:ext cx="3139529" cy="571546"/>
          </a:xfrm>
          <a:prstGeom prst="chevron">
            <a:avLst/>
          </a:prstGeom>
          <a:solidFill>
            <a:srgbClr val="0B1749"/>
          </a:solidFill>
          <a:ln>
            <a:solidFill>
              <a:srgbClr val="0B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갈매기형 수장 15">
            <a:extLst>
              <a:ext uri="{FF2B5EF4-FFF2-40B4-BE49-F238E27FC236}">
                <a16:creationId xmlns:a16="http://schemas.microsoft.com/office/drawing/2014/main" id="{70A586E6-2084-41E6-1C7E-24C0771110AD}"/>
              </a:ext>
            </a:extLst>
          </p:cNvPr>
          <p:cNvSpPr/>
          <p:nvPr/>
        </p:nvSpPr>
        <p:spPr>
          <a:xfrm>
            <a:off x="4508581" y="3225410"/>
            <a:ext cx="3139529" cy="571546"/>
          </a:xfrm>
          <a:prstGeom prst="chevron">
            <a:avLst/>
          </a:prstGeom>
          <a:solidFill>
            <a:srgbClr val="256080"/>
          </a:solidFill>
          <a:ln>
            <a:solidFill>
              <a:srgbClr val="2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갈매기형 수장 16">
            <a:extLst>
              <a:ext uri="{FF2B5EF4-FFF2-40B4-BE49-F238E27FC236}">
                <a16:creationId xmlns:a16="http://schemas.microsoft.com/office/drawing/2014/main" id="{F5653F55-E21F-BD06-2024-085A16E8C907}"/>
              </a:ext>
            </a:extLst>
          </p:cNvPr>
          <p:cNvSpPr/>
          <p:nvPr/>
        </p:nvSpPr>
        <p:spPr>
          <a:xfrm>
            <a:off x="1369052" y="3224639"/>
            <a:ext cx="3139529" cy="571546"/>
          </a:xfrm>
          <a:prstGeom prst="chevron">
            <a:avLst/>
          </a:prstGeom>
          <a:solidFill>
            <a:srgbClr val="5BA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5608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41B568D-BE92-6FF2-A93D-9C0F03ADD662}"/>
              </a:ext>
            </a:extLst>
          </p:cNvPr>
          <p:cNvSpPr/>
          <p:nvPr/>
        </p:nvSpPr>
        <p:spPr>
          <a:xfrm>
            <a:off x="2688564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5608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4151D1A-D388-D07E-4A19-F748CB2CA34E}"/>
              </a:ext>
            </a:extLst>
          </p:cNvPr>
          <p:cNvSpPr/>
          <p:nvPr/>
        </p:nvSpPr>
        <p:spPr>
          <a:xfrm>
            <a:off x="5957016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D0C1403-93A3-BCAB-1633-63DEF65B186D}"/>
              </a:ext>
            </a:extLst>
          </p:cNvPr>
          <p:cNvSpPr/>
          <p:nvPr/>
        </p:nvSpPr>
        <p:spPr>
          <a:xfrm>
            <a:off x="9073792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52ED3C-0369-A1C4-B752-BCB9B3DC3FB9}"/>
              </a:ext>
            </a:extLst>
          </p:cNvPr>
          <p:cNvSpPr txBox="1"/>
          <p:nvPr/>
        </p:nvSpPr>
        <p:spPr>
          <a:xfrm>
            <a:off x="1967193" y="3947479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AF7704-335E-0FC1-06C1-88915C5ABB4F}"/>
              </a:ext>
            </a:extLst>
          </p:cNvPr>
          <p:cNvSpPr txBox="1"/>
          <p:nvPr/>
        </p:nvSpPr>
        <p:spPr>
          <a:xfrm>
            <a:off x="5129345" y="2688483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CE4A7F-0797-FC22-FDBF-600B501332AB}"/>
              </a:ext>
            </a:extLst>
          </p:cNvPr>
          <p:cNvSpPr txBox="1"/>
          <p:nvPr/>
        </p:nvSpPr>
        <p:spPr>
          <a:xfrm>
            <a:off x="8370355" y="3947479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64168E-B404-69B2-AC53-50DCAB066B0F}"/>
              </a:ext>
            </a:extLst>
          </p:cNvPr>
          <p:cNvSpPr txBox="1"/>
          <p:nvPr/>
        </p:nvSpPr>
        <p:spPr>
          <a:xfrm>
            <a:off x="1475851" y="4740057"/>
            <a:ext cx="26680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environment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Early MLE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DE484C-5B04-3B83-F91A-BE21AAE390A3}"/>
              </a:ext>
            </a:extLst>
          </p:cNvPr>
          <p:cNvSpPr txBox="1"/>
          <p:nvPr/>
        </p:nvSpPr>
        <p:spPr>
          <a:xfrm>
            <a:off x="3019605" y="1457518"/>
            <a:ext cx="5869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VS 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Complete fully MLE code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See the distribution of estimated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2D1609-425A-3D45-F22D-B778EBFADB35}"/>
              </a:ext>
            </a:extLst>
          </p:cNvPr>
          <p:cNvSpPr txBox="1"/>
          <p:nvPr/>
        </p:nvSpPr>
        <p:spPr>
          <a:xfrm>
            <a:off x="6946514" y="4470896"/>
            <a:ext cx="4254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Cluster learner dataset</a:t>
            </a:r>
          </a:p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Find the mean parameters of each clusters</a:t>
            </a:r>
          </a:p>
          <a:p>
            <a:pPr algn="ctr"/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- Estimate parameters of each members and simulate on IGT environment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124ABA-DE8C-F12A-20B7-2F5F9B8CF6B2}"/>
              </a:ext>
            </a:extLst>
          </p:cNvPr>
          <p:cNvSpPr/>
          <p:nvPr/>
        </p:nvSpPr>
        <p:spPr>
          <a:xfrm>
            <a:off x="1369052" y="4586586"/>
            <a:ext cx="2974348" cy="1308034"/>
          </a:xfrm>
          <a:prstGeom prst="rect">
            <a:avLst/>
          </a:prstGeom>
          <a:noFill/>
          <a:ln w="28575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CF6677C-8036-512E-D04D-6DACCC1B4818}"/>
              </a:ext>
            </a:extLst>
          </p:cNvPr>
          <p:cNvSpPr/>
          <p:nvPr/>
        </p:nvSpPr>
        <p:spPr>
          <a:xfrm>
            <a:off x="3021406" y="1232644"/>
            <a:ext cx="5867215" cy="1308034"/>
          </a:xfrm>
          <a:prstGeom prst="rect">
            <a:avLst/>
          </a:prstGeom>
          <a:noFill/>
          <a:ln w="28575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3A4966-EF2F-23B6-5301-36F3352098C5}"/>
              </a:ext>
            </a:extLst>
          </p:cNvPr>
          <p:cNvSpPr/>
          <p:nvPr/>
        </p:nvSpPr>
        <p:spPr>
          <a:xfrm>
            <a:off x="6946514" y="4431290"/>
            <a:ext cx="4434500" cy="1978598"/>
          </a:xfrm>
          <a:prstGeom prst="rect">
            <a:avLst/>
          </a:prstGeom>
          <a:noFill/>
          <a:ln w="28575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BE1E4E68-FE7C-A1A4-AC5D-B33AB1E056EE}"/>
              </a:ext>
            </a:extLst>
          </p:cNvPr>
          <p:cNvCxnSpPr>
            <a:cxnSpLocks/>
          </p:cNvCxnSpPr>
          <p:nvPr/>
        </p:nvCxnSpPr>
        <p:spPr>
          <a:xfrm>
            <a:off x="2047086" y="5638801"/>
            <a:ext cx="19450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E26401CB-7092-A0ED-16F5-665A31458F35}"/>
              </a:ext>
            </a:extLst>
          </p:cNvPr>
          <p:cNvCxnSpPr>
            <a:cxnSpLocks/>
          </p:cNvCxnSpPr>
          <p:nvPr/>
        </p:nvCxnSpPr>
        <p:spPr>
          <a:xfrm>
            <a:off x="4674531" y="2058692"/>
            <a:ext cx="29735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17E4DB-9486-ACA0-E77B-000BEEF4BAAA}"/>
              </a:ext>
            </a:extLst>
          </p:cNvPr>
          <p:cNvSpPr txBox="1"/>
          <p:nvPr/>
        </p:nvSpPr>
        <p:spPr>
          <a:xfrm>
            <a:off x="9163764" y="1331575"/>
            <a:ext cx="3150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+ Classification</a:t>
            </a:r>
          </a:p>
          <a:p>
            <a:r>
              <a:rPr kumimoji="1" lang="en-US" altLang="ko-KR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+ IGT Game Playing Code</a:t>
            </a:r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4E865-117A-8FE8-A45B-E865A476E86C}"/>
              </a:ext>
            </a:extLst>
          </p:cNvPr>
          <p:cNvSpPr txBox="1"/>
          <p:nvPr/>
        </p:nvSpPr>
        <p:spPr>
          <a:xfrm>
            <a:off x="941683" y="1548562"/>
            <a:ext cx="3150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박시윤</a:t>
            </a:r>
            <a:endParaRPr lang="ko-KR" altLang="en-US" dirty="0"/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49453BA-20C2-305F-E35A-B0602E4D28A4}"/>
              </a:ext>
            </a:extLst>
          </p:cNvPr>
          <p:cNvCxnSpPr>
            <a:cxnSpLocks/>
          </p:cNvCxnSpPr>
          <p:nvPr/>
        </p:nvCxnSpPr>
        <p:spPr>
          <a:xfrm>
            <a:off x="9316455" y="1620887"/>
            <a:ext cx="152737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400BCC76-F0EA-A815-C9D0-4FA2A79C67A7}"/>
              </a:ext>
            </a:extLst>
          </p:cNvPr>
          <p:cNvCxnSpPr>
            <a:cxnSpLocks/>
          </p:cNvCxnSpPr>
          <p:nvPr/>
        </p:nvCxnSpPr>
        <p:spPr>
          <a:xfrm>
            <a:off x="9357038" y="1917894"/>
            <a:ext cx="25456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60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CD3D9-6CA9-3CE6-6C18-C2B3825E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A15307-28D9-4100-8E23-4303B1E5AF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8" y="139009"/>
            <a:ext cx="7491285" cy="766364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  <a:endParaRPr lang="ko-KR" altLang="en-US" dirty="0"/>
          </a:p>
        </p:txBody>
      </p:sp>
      <p:sp>
        <p:nvSpPr>
          <p:cNvPr id="11" name="갈매기형 수장 14">
            <a:extLst>
              <a:ext uri="{FF2B5EF4-FFF2-40B4-BE49-F238E27FC236}">
                <a16:creationId xmlns:a16="http://schemas.microsoft.com/office/drawing/2014/main" id="{D312F96C-82B7-86B9-9CF8-61592831CC80}"/>
              </a:ext>
            </a:extLst>
          </p:cNvPr>
          <p:cNvSpPr/>
          <p:nvPr/>
        </p:nvSpPr>
        <p:spPr>
          <a:xfrm>
            <a:off x="7648111" y="3200211"/>
            <a:ext cx="3139529" cy="571546"/>
          </a:xfrm>
          <a:prstGeom prst="chevron">
            <a:avLst/>
          </a:prstGeom>
          <a:solidFill>
            <a:srgbClr val="0B1749"/>
          </a:solidFill>
          <a:ln>
            <a:solidFill>
              <a:srgbClr val="0B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갈매기형 수장 15">
            <a:extLst>
              <a:ext uri="{FF2B5EF4-FFF2-40B4-BE49-F238E27FC236}">
                <a16:creationId xmlns:a16="http://schemas.microsoft.com/office/drawing/2014/main" id="{F738FE2E-5A07-4A0C-5B24-7A35EC6586B9}"/>
              </a:ext>
            </a:extLst>
          </p:cNvPr>
          <p:cNvSpPr/>
          <p:nvPr/>
        </p:nvSpPr>
        <p:spPr>
          <a:xfrm>
            <a:off x="4508581" y="3225410"/>
            <a:ext cx="3139529" cy="571546"/>
          </a:xfrm>
          <a:prstGeom prst="chevron">
            <a:avLst/>
          </a:prstGeom>
          <a:solidFill>
            <a:srgbClr val="256080"/>
          </a:solidFill>
          <a:ln>
            <a:solidFill>
              <a:srgbClr val="2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갈매기형 수장 16">
            <a:extLst>
              <a:ext uri="{FF2B5EF4-FFF2-40B4-BE49-F238E27FC236}">
                <a16:creationId xmlns:a16="http://schemas.microsoft.com/office/drawing/2014/main" id="{0C5E5E58-A0CF-8CAA-7EDA-727182439F2D}"/>
              </a:ext>
            </a:extLst>
          </p:cNvPr>
          <p:cNvSpPr/>
          <p:nvPr/>
        </p:nvSpPr>
        <p:spPr>
          <a:xfrm>
            <a:off x="1369052" y="3224639"/>
            <a:ext cx="3139529" cy="571546"/>
          </a:xfrm>
          <a:prstGeom prst="chevron">
            <a:avLst/>
          </a:prstGeom>
          <a:solidFill>
            <a:srgbClr val="5BA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5608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F766AEB-805C-A626-E2CA-D60DEDCF0F56}"/>
              </a:ext>
            </a:extLst>
          </p:cNvPr>
          <p:cNvSpPr/>
          <p:nvPr/>
        </p:nvSpPr>
        <p:spPr>
          <a:xfrm>
            <a:off x="2688564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5608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796788A-DBA9-2665-62A6-429F29E50887}"/>
              </a:ext>
            </a:extLst>
          </p:cNvPr>
          <p:cNvSpPr/>
          <p:nvPr/>
        </p:nvSpPr>
        <p:spPr>
          <a:xfrm>
            <a:off x="5957016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6C085A7-B824-ADA2-2B31-6B5682BF7C28}"/>
              </a:ext>
            </a:extLst>
          </p:cNvPr>
          <p:cNvSpPr/>
          <p:nvPr/>
        </p:nvSpPr>
        <p:spPr>
          <a:xfrm>
            <a:off x="9073792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FEC764-BC4B-1769-0809-0762961F000E}"/>
              </a:ext>
            </a:extLst>
          </p:cNvPr>
          <p:cNvSpPr txBox="1"/>
          <p:nvPr/>
        </p:nvSpPr>
        <p:spPr>
          <a:xfrm>
            <a:off x="1967193" y="3947479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FC0623-80DB-9441-99C7-73A384CED090}"/>
              </a:ext>
            </a:extLst>
          </p:cNvPr>
          <p:cNvSpPr txBox="1"/>
          <p:nvPr/>
        </p:nvSpPr>
        <p:spPr>
          <a:xfrm>
            <a:off x="5129345" y="2688483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7A808D-39CF-23EE-9DD9-6E8564E773E5}"/>
              </a:ext>
            </a:extLst>
          </p:cNvPr>
          <p:cNvSpPr txBox="1"/>
          <p:nvPr/>
        </p:nvSpPr>
        <p:spPr>
          <a:xfrm>
            <a:off x="8370355" y="3947479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EE1631-7708-FBC9-8648-59098D6151B5}"/>
              </a:ext>
            </a:extLst>
          </p:cNvPr>
          <p:cNvSpPr txBox="1"/>
          <p:nvPr/>
        </p:nvSpPr>
        <p:spPr>
          <a:xfrm>
            <a:off x="1475851" y="4740057"/>
            <a:ext cx="26680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environment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Early MLE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AD5940-A703-CD64-A96E-64793CE11F54}"/>
              </a:ext>
            </a:extLst>
          </p:cNvPr>
          <p:cNvSpPr txBox="1"/>
          <p:nvPr/>
        </p:nvSpPr>
        <p:spPr>
          <a:xfrm>
            <a:off x="3019605" y="1457518"/>
            <a:ext cx="5869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VS 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Complete fully MLE code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See the distribution of estimated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FE5D75-EA9E-B282-B5AD-8251C4DC1582}"/>
              </a:ext>
            </a:extLst>
          </p:cNvPr>
          <p:cNvSpPr txBox="1"/>
          <p:nvPr/>
        </p:nvSpPr>
        <p:spPr>
          <a:xfrm>
            <a:off x="6946514" y="4470896"/>
            <a:ext cx="4254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Cluster learner dataset</a:t>
            </a:r>
          </a:p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Find the mean parameters of each clusters</a:t>
            </a:r>
          </a:p>
          <a:p>
            <a:pPr algn="ctr"/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- Estimate parameters of each members and simulate on IGT environment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23F7A76-5A2F-ADD8-D426-7D28DE1FBDEE}"/>
              </a:ext>
            </a:extLst>
          </p:cNvPr>
          <p:cNvSpPr/>
          <p:nvPr/>
        </p:nvSpPr>
        <p:spPr>
          <a:xfrm>
            <a:off x="1369052" y="4586586"/>
            <a:ext cx="2974348" cy="1308034"/>
          </a:xfrm>
          <a:prstGeom prst="rect">
            <a:avLst/>
          </a:prstGeom>
          <a:noFill/>
          <a:ln w="28575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89200EA-5C67-3817-2CA7-2F7607E69776}"/>
              </a:ext>
            </a:extLst>
          </p:cNvPr>
          <p:cNvSpPr/>
          <p:nvPr/>
        </p:nvSpPr>
        <p:spPr>
          <a:xfrm>
            <a:off x="3021406" y="1232644"/>
            <a:ext cx="5867215" cy="1308034"/>
          </a:xfrm>
          <a:prstGeom prst="rect">
            <a:avLst/>
          </a:prstGeom>
          <a:noFill/>
          <a:ln w="28575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FCE855-2968-E506-D932-8D953BCC094F}"/>
              </a:ext>
            </a:extLst>
          </p:cNvPr>
          <p:cNvSpPr/>
          <p:nvPr/>
        </p:nvSpPr>
        <p:spPr>
          <a:xfrm>
            <a:off x="6946514" y="4431290"/>
            <a:ext cx="4434500" cy="1978598"/>
          </a:xfrm>
          <a:prstGeom prst="rect">
            <a:avLst/>
          </a:prstGeom>
          <a:noFill/>
          <a:ln w="28575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BEC8B-8707-1260-5DB4-90B0C7D4BB55}"/>
              </a:ext>
            </a:extLst>
          </p:cNvPr>
          <p:cNvSpPr txBox="1"/>
          <p:nvPr/>
        </p:nvSpPr>
        <p:spPr>
          <a:xfrm>
            <a:off x="941683" y="1548562"/>
            <a:ext cx="3150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이상아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B3F3A-5A57-5956-4493-D481B05D6E82}"/>
              </a:ext>
            </a:extLst>
          </p:cNvPr>
          <p:cNvSpPr txBox="1"/>
          <p:nvPr/>
        </p:nvSpPr>
        <p:spPr>
          <a:xfrm>
            <a:off x="9163764" y="1331575"/>
            <a:ext cx="31503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+ Preprocessing</a:t>
            </a:r>
          </a:p>
          <a:p>
            <a:r>
              <a:rPr kumimoji="1" lang="en-US" altLang="ko-KR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+ Reference tracking</a:t>
            </a:r>
          </a:p>
          <a:p>
            <a:r>
              <a:rPr kumimoji="1" lang="en-US" altLang="ko-KR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+ Code organization</a:t>
            </a:r>
          </a:p>
          <a:p>
            <a:endParaRPr lang="ko-KR" altLang="en-US" dirty="0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B63E1EEF-9048-6871-30FE-E7F2122F9B54}"/>
              </a:ext>
            </a:extLst>
          </p:cNvPr>
          <p:cNvCxnSpPr>
            <a:cxnSpLocks/>
          </p:cNvCxnSpPr>
          <p:nvPr/>
        </p:nvCxnSpPr>
        <p:spPr>
          <a:xfrm>
            <a:off x="9316455" y="1669921"/>
            <a:ext cx="18846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CD6CB4ED-4929-9388-3DD5-CCDD7490B297}"/>
              </a:ext>
            </a:extLst>
          </p:cNvPr>
          <p:cNvCxnSpPr>
            <a:cxnSpLocks/>
          </p:cNvCxnSpPr>
          <p:nvPr/>
        </p:nvCxnSpPr>
        <p:spPr>
          <a:xfrm>
            <a:off x="9314542" y="1917894"/>
            <a:ext cx="2185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CB2EB127-EBB1-7B83-7786-0994CBC3E32F}"/>
              </a:ext>
            </a:extLst>
          </p:cNvPr>
          <p:cNvCxnSpPr>
            <a:cxnSpLocks/>
          </p:cNvCxnSpPr>
          <p:nvPr/>
        </p:nvCxnSpPr>
        <p:spPr>
          <a:xfrm>
            <a:off x="9314542" y="2181364"/>
            <a:ext cx="20664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69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16A0-5507-FB57-6C42-A682E0AE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FCB114-BE1A-407D-1207-9F3C288058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8" y="139009"/>
            <a:ext cx="7491285" cy="766364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  <a:endParaRPr lang="ko-KR" altLang="en-US" dirty="0"/>
          </a:p>
        </p:txBody>
      </p:sp>
      <p:sp>
        <p:nvSpPr>
          <p:cNvPr id="11" name="갈매기형 수장 14">
            <a:extLst>
              <a:ext uri="{FF2B5EF4-FFF2-40B4-BE49-F238E27FC236}">
                <a16:creationId xmlns:a16="http://schemas.microsoft.com/office/drawing/2014/main" id="{DF4BE01D-6C53-58BC-0F4A-6D9C249DA32B}"/>
              </a:ext>
            </a:extLst>
          </p:cNvPr>
          <p:cNvSpPr/>
          <p:nvPr/>
        </p:nvSpPr>
        <p:spPr>
          <a:xfrm>
            <a:off x="7648111" y="3200211"/>
            <a:ext cx="3139529" cy="571546"/>
          </a:xfrm>
          <a:prstGeom prst="chevron">
            <a:avLst/>
          </a:prstGeom>
          <a:solidFill>
            <a:srgbClr val="0B1749"/>
          </a:solidFill>
          <a:ln>
            <a:solidFill>
              <a:srgbClr val="0B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갈매기형 수장 15">
            <a:extLst>
              <a:ext uri="{FF2B5EF4-FFF2-40B4-BE49-F238E27FC236}">
                <a16:creationId xmlns:a16="http://schemas.microsoft.com/office/drawing/2014/main" id="{6557180C-FEE2-9A49-D32C-5DA5DFA7A9D1}"/>
              </a:ext>
            </a:extLst>
          </p:cNvPr>
          <p:cNvSpPr/>
          <p:nvPr/>
        </p:nvSpPr>
        <p:spPr>
          <a:xfrm>
            <a:off x="4508581" y="3225410"/>
            <a:ext cx="3139529" cy="571546"/>
          </a:xfrm>
          <a:prstGeom prst="chevron">
            <a:avLst/>
          </a:prstGeom>
          <a:solidFill>
            <a:srgbClr val="256080"/>
          </a:solidFill>
          <a:ln>
            <a:solidFill>
              <a:srgbClr val="2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갈매기형 수장 16">
            <a:extLst>
              <a:ext uri="{FF2B5EF4-FFF2-40B4-BE49-F238E27FC236}">
                <a16:creationId xmlns:a16="http://schemas.microsoft.com/office/drawing/2014/main" id="{215C03FA-5C84-2692-E93E-43A0D75B7F1E}"/>
              </a:ext>
            </a:extLst>
          </p:cNvPr>
          <p:cNvSpPr/>
          <p:nvPr/>
        </p:nvSpPr>
        <p:spPr>
          <a:xfrm>
            <a:off x="1369052" y="3224639"/>
            <a:ext cx="3139529" cy="571546"/>
          </a:xfrm>
          <a:prstGeom prst="chevron">
            <a:avLst/>
          </a:prstGeom>
          <a:solidFill>
            <a:srgbClr val="5BA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5608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57D96ED-B3DB-03A3-B73D-AF718015B86B}"/>
              </a:ext>
            </a:extLst>
          </p:cNvPr>
          <p:cNvSpPr/>
          <p:nvPr/>
        </p:nvSpPr>
        <p:spPr>
          <a:xfrm>
            <a:off x="2688564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5608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D71921E-80A0-F987-AD4A-8FB29C5A5BF4}"/>
              </a:ext>
            </a:extLst>
          </p:cNvPr>
          <p:cNvSpPr/>
          <p:nvPr/>
        </p:nvSpPr>
        <p:spPr>
          <a:xfrm>
            <a:off x="5957016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10B0D30-03AE-4143-5392-68E771D56B92}"/>
              </a:ext>
            </a:extLst>
          </p:cNvPr>
          <p:cNvSpPr/>
          <p:nvPr/>
        </p:nvSpPr>
        <p:spPr>
          <a:xfrm>
            <a:off x="9073792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20F7CB-065A-6AED-9319-2634D0AD48E7}"/>
              </a:ext>
            </a:extLst>
          </p:cNvPr>
          <p:cNvSpPr txBox="1"/>
          <p:nvPr/>
        </p:nvSpPr>
        <p:spPr>
          <a:xfrm>
            <a:off x="1967193" y="3947479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C5A16A-BE73-1B37-D92E-0E01C260BB06}"/>
              </a:ext>
            </a:extLst>
          </p:cNvPr>
          <p:cNvSpPr txBox="1"/>
          <p:nvPr/>
        </p:nvSpPr>
        <p:spPr>
          <a:xfrm>
            <a:off x="5129345" y="2688483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507ABB-C12D-09C8-2DEB-F4266515D707}"/>
              </a:ext>
            </a:extLst>
          </p:cNvPr>
          <p:cNvSpPr txBox="1"/>
          <p:nvPr/>
        </p:nvSpPr>
        <p:spPr>
          <a:xfrm>
            <a:off x="8370355" y="3947479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DCA990-9795-D193-131F-AAF919E0DC34}"/>
              </a:ext>
            </a:extLst>
          </p:cNvPr>
          <p:cNvSpPr txBox="1"/>
          <p:nvPr/>
        </p:nvSpPr>
        <p:spPr>
          <a:xfrm>
            <a:off x="1475851" y="4740057"/>
            <a:ext cx="26680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environment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Early MLE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C92ED4-36A2-BDDE-CDE9-7658542ED8A8}"/>
              </a:ext>
            </a:extLst>
          </p:cNvPr>
          <p:cNvSpPr txBox="1"/>
          <p:nvPr/>
        </p:nvSpPr>
        <p:spPr>
          <a:xfrm>
            <a:off x="3019605" y="1457518"/>
            <a:ext cx="5869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VS 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Complete fully MLE code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See the distribution of estimated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BBD97-240B-0847-12E4-18D5C5199849}"/>
              </a:ext>
            </a:extLst>
          </p:cNvPr>
          <p:cNvSpPr txBox="1"/>
          <p:nvPr/>
        </p:nvSpPr>
        <p:spPr>
          <a:xfrm>
            <a:off x="6946514" y="4470896"/>
            <a:ext cx="4254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Cluster learner dataset</a:t>
            </a:r>
          </a:p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Find the mean parameters of each clusters</a:t>
            </a:r>
          </a:p>
          <a:p>
            <a:pPr algn="ctr"/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- Estimate parameters of each members and simulate on IGT environment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6B45BE8-49D3-D87A-135F-9CE8CF616900}"/>
              </a:ext>
            </a:extLst>
          </p:cNvPr>
          <p:cNvSpPr/>
          <p:nvPr/>
        </p:nvSpPr>
        <p:spPr>
          <a:xfrm>
            <a:off x="1369052" y="4586586"/>
            <a:ext cx="2974348" cy="1308034"/>
          </a:xfrm>
          <a:prstGeom prst="rect">
            <a:avLst/>
          </a:prstGeom>
          <a:noFill/>
          <a:ln w="28575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B612FBB-07EB-F8AC-1EE1-07B89D1B98B6}"/>
              </a:ext>
            </a:extLst>
          </p:cNvPr>
          <p:cNvSpPr/>
          <p:nvPr/>
        </p:nvSpPr>
        <p:spPr>
          <a:xfrm>
            <a:off x="3021406" y="1232644"/>
            <a:ext cx="5867215" cy="1308034"/>
          </a:xfrm>
          <a:prstGeom prst="rect">
            <a:avLst/>
          </a:prstGeom>
          <a:noFill/>
          <a:ln w="28575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E212EBD-B700-93ED-E851-4B92B136C70D}"/>
              </a:ext>
            </a:extLst>
          </p:cNvPr>
          <p:cNvSpPr/>
          <p:nvPr/>
        </p:nvSpPr>
        <p:spPr>
          <a:xfrm>
            <a:off x="6946514" y="4431290"/>
            <a:ext cx="4434500" cy="1978598"/>
          </a:xfrm>
          <a:prstGeom prst="rect">
            <a:avLst/>
          </a:prstGeom>
          <a:noFill/>
          <a:ln w="28575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A93AF8-5535-2BEB-E3D9-497A92FD095B}"/>
              </a:ext>
            </a:extLst>
          </p:cNvPr>
          <p:cNvSpPr/>
          <p:nvPr/>
        </p:nvSpPr>
        <p:spPr>
          <a:xfrm>
            <a:off x="1651331" y="4740057"/>
            <a:ext cx="2317126" cy="338071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577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3ECE-C8E1-1F42-FC8A-2F8F96F9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B263A6-9B70-BA0C-233B-0AE1EA207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8" y="139009"/>
            <a:ext cx="7491285" cy="766364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  <a:endParaRPr lang="ko-KR" altLang="en-US" dirty="0"/>
          </a:p>
        </p:txBody>
      </p:sp>
      <p:sp>
        <p:nvSpPr>
          <p:cNvPr id="11" name="갈매기형 수장 14">
            <a:extLst>
              <a:ext uri="{FF2B5EF4-FFF2-40B4-BE49-F238E27FC236}">
                <a16:creationId xmlns:a16="http://schemas.microsoft.com/office/drawing/2014/main" id="{60DA709E-617F-21E2-CC34-32FC4EDFB6EA}"/>
              </a:ext>
            </a:extLst>
          </p:cNvPr>
          <p:cNvSpPr/>
          <p:nvPr/>
        </p:nvSpPr>
        <p:spPr>
          <a:xfrm>
            <a:off x="7648111" y="3200211"/>
            <a:ext cx="3139529" cy="571546"/>
          </a:xfrm>
          <a:prstGeom prst="chevron">
            <a:avLst/>
          </a:prstGeom>
          <a:solidFill>
            <a:srgbClr val="0B1749"/>
          </a:solidFill>
          <a:ln>
            <a:solidFill>
              <a:srgbClr val="0B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갈매기형 수장 15">
            <a:extLst>
              <a:ext uri="{FF2B5EF4-FFF2-40B4-BE49-F238E27FC236}">
                <a16:creationId xmlns:a16="http://schemas.microsoft.com/office/drawing/2014/main" id="{B9FBE6F5-BFFA-AEEC-2C6A-EEE2B96FC846}"/>
              </a:ext>
            </a:extLst>
          </p:cNvPr>
          <p:cNvSpPr/>
          <p:nvPr/>
        </p:nvSpPr>
        <p:spPr>
          <a:xfrm>
            <a:off x="4508581" y="3225410"/>
            <a:ext cx="3139529" cy="571546"/>
          </a:xfrm>
          <a:prstGeom prst="chevron">
            <a:avLst/>
          </a:prstGeom>
          <a:solidFill>
            <a:srgbClr val="256080"/>
          </a:solidFill>
          <a:ln>
            <a:solidFill>
              <a:srgbClr val="2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갈매기형 수장 16">
            <a:extLst>
              <a:ext uri="{FF2B5EF4-FFF2-40B4-BE49-F238E27FC236}">
                <a16:creationId xmlns:a16="http://schemas.microsoft.com/office/drawing/2014/main" id="{2C406EDA-4DE5-441E-F4E1-522CFDDD9972}"/>
              </a:ext>
            </a:extLst>
          </p:cNvPr>
          <p:cNvSpPr/>
          <p:nvPr/>
        </p:nvSpPr>
        <p:spPr>
          <a:xfrm>
            <a:off x="1369052" y="3224639"/>
            <a:ext cx="3139529" cy="571546"/>
          </a:xfrm>
          <a:prstGeom prst="chevron">
            <a:avLst/>
          </a:prstGeom>
          <a:solidFill>
            <a:srgbClr val="5BA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5608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11D8F80-3CCE-6AB9-588B-69B26AD321B5}"/>
              </a:ext>
            </a:extLst>
          </p:cNvPr>
          <p:cNvSpPr/>
          <p:nvPr/>
        </p:nvSpPr>
        <p:spPr>
          <a:xfrm>
            <a:off x="2688564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5608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5C3F629-5911-5EC5-B3A7-57C76A55906F}"/>
              </a:ext>
            </a:extLst>
          </p:cNvPr>
          <p:cNvSpPr/>
          <p:nvPr/>
        </p:nvSpPr>
        <p:spPr>
          <a:xfrm>
            <a:off x="5957016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128A048-CD5D-FBA3-DC79-3624FD442AF2}"/>
              </a:ext>
            </a:extLst>
          </p:cNvPr>
          <p:cNvSpPr/>
          <p:nvPr/>
        </p:nvSpPr>
        <p:spPr>
          <a:xfrm>
            <a:off x="9073792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3DDC3F-C3AE-D695-2579-30A7787ED36E}"/>
              </a:ext>
            </a:extLst>
          </p:cNvPr>
          <p:cNvSpPr txBox="1"/>
          <p:nvPr/>
        </p:nvSpPr>
        <p:spPr>
          <a:xfrm>
            <a:off x="1967193" y="3947479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42C7C5-3B94-7F38-D66A-E8179584CCA3}"/>
              </a:ext>
            </a:extLst>
          </p:cNvPr>
          <p:cNvSpPr txBox="1"/>
          <p:nvPr/>
        </p:nvSpPr>
        <p:spPr>
          <a:xfrm>
            <a:off x="5129345" y="2688483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95A7D4-8BDD-0BA9-219A-54ABE0C09A11}"/>
              </a:ext>
            </a:extLst>
          </p:cNvPr>
          <p:cNvSpPr txBox="1"/>
          <p:nvPr/>
        </p:nvSpPr>
        <p:spPr>
          <a:xfrm>
            <a:off x="8370355" y="3947479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288C7D-9EC0-F6FA-7AF7-71476EDC396F}"/>
              </a:ext>
            </a:extLst>
          </p:cNvPr>
          <p:cNvSpPr txBox="1"/>
          <p:nvPr/>
        </p:nvSpPr>
        <p:spPr>
          <a:xfrm>
            <a:off x="1475851" y="4740057"/>
            <a:ext cx="26680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environment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Early MLE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FB213F-1A8E-C6FF-E128-D91DECADEE7D}"/>
              </a:ext>
            </a:extLst>
          </p:cNvPr>
          <p:cNvSpPr txBox="1"/>
          <p:nvPr/>
        </p:nvSpPr>
        <p:spPr>
          <a:xfrm>
            <a:off x="3019605" y="1457518"/>
            <a:ext cx="5869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VS 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Complete fully MLE code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See the distribution of estimated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C3C41B-D3F3-7BC7-6503-AA9A3CE3D296}"/>
              </a:ext>
            </a:extLst>
          </p:cNvPr>
          <p:cNvSpPr txBox="1"/>
          <p:nvPr/>
        </p:nvSpPr>
        <p:spPr>
          <a:xfrm>
            <a:off x="6946514" y="4470896"/>
            <a:ext cx="4254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Cluster learner dataset</a:t>
            </a:r>
          </a:p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Find the mean parameters of each clusters</a:t>
            </a:r>
          </a:p>
          <a:p>
            <a:pPr algn="ctr"/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- Estimate parameters of each members and simulate on IGT environment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D347B7B-60E4-B7CA-23C9-505A397CBC40}"/>
              </a:ext>
            </a:extLst>
          </p:cNvPr>
          <p:cNvSpPr/>
          <p:nvPr/>
        </p:nvSpPr>
        <p:spPr>
          <a:xfrm>
            <a:off x="1369052" y="4586586"/>
            <a:ext cx="2974348" cy="1308034"/>
          </a:xfrm>
          <a:prstGeom prst="rect">
            <a:avLst/>
          </a:prstGeom>
          <a:noFill/>
          <a:ln w="28575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27C1A4-F179-1EB4-5ACE-16B82A394B4F}"/>
              </a:ext>
            </a:extLst>
          </p:cNvPr>
          <p:cNvSpPr/>
          <p:nvPr/>
        </p:nvSpPr>
        <p:spPr>
          <a:xfrm>
            <a:off x="3021406" y="1232644"/>
            <a:ext cx="5867215" cy="1308034"/>
          </a:xfrm>
          <a:prstGeom prst="rect">
            <a:avLst/>
          </a:prstGeom>
          <a:noFill/>
          <a:ln w="28575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EC4E09F-589B-BA6D-B72C-1D47C107BEED}"/>
              </a:ext>
            </a:extLst>
          </p:cNvPr>
          <p:cNvSpPr/>
          <p:nvPr/>
        </p:nvSpPr>
        <p:spPr>
          <a:xfrm>
            <a:off x="6946514" y="4431290"/>
            <a:ext cx="4434500" cy="1978598"/>
          </a:xfrm>
          <a:prstGeom prst="rect">
            <a:avLst/>
          </a:prstGeom>
          <a:noFill/>
          <a:ln w="28575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6A96F2-E448-39EC-6A4B-4029B09D39D1}"/>
              </a:ext>
            </a:extLst>
          </p:cNvPr>
          <p:cNvSpPr/>
          <p:nvPr/>
        </p:nvSpPr>
        <p:spPr>
          <a:xfrm>
            <a:off x="1651331" y="5030509"/>
            <a:ext cx="2317126" cy="338071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7471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595E3-C88F-DC0D-AEFE-F122FD4B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8BB54D-D82D-3D8B-19B2-A7783A3A3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8" y="139009"/>
            <a:ext cx="7491285" cy="766364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Activities performed by week/ team member</a:t>
            </a:r>
            <a:endParaRPr lang="ko-KR" altLang="en-US" dirty="0"/>
          </a:p>
        </p:txBody>
      </p:sp>
      <p:sp>
        <p:nvSpPr>
          <p:cNvPr id="11" name="갈매기형 수장 14">
            <a:extLst>
              <a:ext uri="{FF2B5EF4-FFF2-40B4-BE49-F238E27FC236}">
                <a16:creationId xmlns:a16="http://schemas.microsoft.com/office/drawing/2014/main" id="{A6822EAA-4A3E-3202-6994-DF6EC3A5998E}"/>
              </a:ext>
            </a:extLst>
          </p:cNvPr>
          <p:cNvSpPr/>
          <p:nvPr/>
        </p:nvSpPr>
        <p:spPr>
          <a:xfrm>
            <a:off x="7648111" y="3200211"/>
            <a:ext cx="3139529" cy="571546"/>
          </a:xfrm>
          <a:prstGeom prst="chevron">
            <a:avLst/>
          </a:prstGeom>
          <a:solidFill>
            <a:srgbClr val="0B1749"/>
          </a:solidFill>
          <a:ln>
            <a:solidFill>
              <a:srgbClr val="0B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갈매기형 수장 15">
            <a:extLst>
              <a:ext uri="{FF2B5EF4-FFF2-40B4-BE49-F238E27FC236}">
                <a16:creationId xmlns:a16="http://schemas.microsoft.com/office/drawing/2014/main" id="{73642556-596F-8BE9-0860-9A1AD0177032}"/>
              </a:ext>
            </a:extLst>
          </p:cNvPr>
          <p:cNvSpPr/>
          <p:nvPr/>
        </p:nvSpPr>
        <p:spPr>
          <a:xfrm>
            <a:off x="4508581" y="3225410"/>
            <a:ext cx="3139529" cy="571546"/>
          </a:xfrm>
          <a:prstGeom prst="chevron">
            <a:avLst/>
          </a:prstGeom>
          <a:solidFill>
            <a:srgbClr val="256080"/>
          </a:solidFill>
          <a:ln>
            <a:solidFill>
              <a:srgbClr val="2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갈매기형 수장 16">
            <a:extLst>
              <a:ext uri="{FF2B5EF4-FFF2-40B4-BE49-F238E27FC236}">
                <a16:creationId xmlns:a16="http://schemas.microsoft.com/office/drawing/2014/main" id="{4BECCD5E-B109-7CF0-3DD7-41D4DCB41D20}"/>
              </a:ext>
            </a:extLst>
          </p:cNvPr>
          <p:cNvSpPr/>
          <p:nvPr/>
        </p:nvSpPr>
        <p:spPr>
          <a:xfrm>
            <a:off x="1369052" y="3224639"/>
            <a:ext cx="3139529" cy="571546"/>
          </a:xfrm>
          <a:prstGeom prst="chevron">
            <a:avLst/>
          </a:prstGeom>
          <a:solidFill>
            <a:srgbClr val="5BA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5608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BB7072A-94BF-EDF7-8558-6935A4C17484}"/>
              </a:ext>
            </a:extLst>
          </p:cNvPr>
          <p:cNvSpPr/>
          <p:nvPr/>
        </p:nvSpPr>
        <p:spPr>
          <a:xfrm>
            <a:off x="2688564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5608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42577DA-1E18-2B8D-29C1-A417CE3FCA0A}"/>
              </a:ext>
            </a:extLst>
          </p:cNvPr>
          <p:cNvSpPr/>
          <p:nvPr/>
        </p:nvSpPr>
        <p:spPr>
          <a:xfrm>
            <a:off x="5957016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FB3CFE8-CDD7-5772-3D06-6761ECF0EB1C}"/>
              </a:ext>
            </a:extLst>
          </p:cNvPr>
          <p:cNvSpPr/>
          <p:nvPr/>
        </p:nvSpPr>
        <p:spPr>
          <a:xfrm>
            <a:off x="9073792" y="3375933"/>
            <a:ext cx="242663" cy="26895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DAF4F5-A077-DB46-C327-8E261273D4E9}"/>
              </a:ext>
            </a:extLst>
          </p:cNvPr>
          <p:cNvSpPr txBox="1"/>
          <p:nvPr/>
        </p:nvSpPr>
        <p:spPr>
          <a:xfrm>
            <a:off x="1967193" y="3947479"/>
            <a:ext cx="1928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EC29B4-026F-E46D-E760-BED5975B7352}"/>
              </a:ext>
            </a:extLst>
          </p:cNvPr>
          <p:cNvSpPr txBox="1"/>
          <p:nvPr/>
        </p:nvSpPr>
        <p:spPr>
          <a:xfrm>
            <a:off x="5129345" y="2688483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AA6DBE-59AF-A90E-E29E-B62F9DBC62A9}"/>
              </a:ext>
            </a:extLst>
          </p:cNvPr>
          <p:cNvSpPr txBox="1"/>
          <p:nvPr/>
        </p:nvSpPr>
        <p:spPr>
          <a:xfrm>
            <a:off x="8370355" y="3947479"/>
            <a:ext cx="1649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4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Week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7E4B4D-DFEB-2B62-CAE1-38393B904459}"/>
              </a:ext>
            </a:extLst>
          </p:cNvPr>
          <p:cNvSpPr txBox="1"/>
          <p:nvPr/>
        </p:nvSpPr>
        <p:spPr>
          <a:xfrm>
            <a:off x="1475851" y="4740057"/>
            <a:ext cx="26680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IGT environment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5BA1B4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Early MLE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328EA6-5075-3F54-F044-C7062CF324C7}"/>
              </a:ext>
            </a:extLst>
          </p:cNvPr>
          <p:cNvSpPr txBox="1"/>
          <p:nvPr/>
        </p:nvSpPr>
        <p:spPr>
          <a:xfrm>
            <a:off x="3019605" y="1457518"/>
            <a:ext cx="58690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VS Q learning model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Complete fully MLE code</a:t>
            </a:r>
          </a:p>
          <a:p>
            <a:pPr marL="285750" indent="-285750" algn="ctr">
              <a:buFontTx/>
              <a:buChar char="-"/>
            </a:pPr>
            <a:r>
              <a:rPr kumimoji="1" lang="en-US" altLang="ko-KR" sz="2000" dirty="0">
                <a:solidFill>
                  <a:srgbClr val="256080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See the distribution of estimated 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6E34A2-846E-9623-B024-C02CAEA93147}"/>
              </a:ext>
            </a:extLst>
          </p:cNvPr>
          <p:cNvSpPr txBox="1"/>
          <p:nvPr/>
        </p:nvSpPr>
        <p:spPr>
          <a:xfrm>
            <a:off x="6946514" y="4470896"/>
            <a:ext cx="4254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Cluster learner dataset</a:t>
            </a:r>
          </a:p>
          <a:p>
            <a:pPr marL="342900" indent="-342900" algn="ctr">
              <a:buFontTx/>
              <a:buChar char="-"/>
            </a:pPr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Find the mean parameters of each clusters</a:t>
            </a:r>
          </a:p>
          <a:p>
            <a:pPr algn="ctr"/>
            <a:r>
              <a:rPr kumimoji="1" lang="en-US" altLang="ko-KR" sz="2000" dirty="0">
                <a:solidFill>
                  <a:srgbClr val="0B1749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- Estimate parameters of each members and simulate on IGT environment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D8048AF-2CFC-5AE6-0FAE-809A8D38F707}"/>
              </a:ext>
            </a:extLst>
          </p:cNvPr>
          <p:cNvSpPr/>
          <p:nvPr/>
        </p:nvSpPr>
        <p:spPr>
          <a:xfrm>
            <a:off x="1369052" y="4586586"/>
            <a:ext cx="2974348" cy="1308034"/>
          </a:xfrm>
          <a:prstGeom prst="rect">
            <a:avLst/>
          </a:prstGeom>
          <a:noFill/>
          <a:ln w="28575">
            <a:solidFill>
              <a:srgbClr val="5BA1B4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chemeClr val="tx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B959DE0-9C0E-2490-40AB-7F413CD6B6CF}"/>
              </a:ext>
            </a:extLst>
          </p:cNvPr>
          <p:cNvSpPr/>
          <p:nvPr/>
        </p:nvSpPr>
        <p:spPr>
          <a:xfrm>
            <a:off x="3021406" y="1232644"/>
            <a:ext cx="5867215" cy="1308034"/>
          </a:xfrm>
          <a:prstGeom prst="rect">
            <a:avLst/>
          </a:prstGeom>
          <a:noFill/>
          <a:ln w="28575">
            <a:solidFill>
              <a:srgbClr val="25608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9FA367B-48A8-F9E4-CF0C-B0BC7368C071}"/>
              </a:ext>
            </a:extLst>
          </p:cNvPr>
          <p:cNvSpPr/>
          <p:nvPr/>
        </p:nvSpPr>
        <p:spPr>
          <a:xfrm>
            <a:off x="6946514" y="4431290"/>
            <a:ext cx="4434500" cy="1978598"/>
          </a:xfrm>
          <a:prstGeom prst="rect">
            <a:avLst/>
          </a:prstGeom>
          <a:noFill/>
          <a:ln w="28575">
            <a:solidFill>
              <a:srgbClr val="0B1749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0DD890-C60B-79EC-7972-6644889754B1}"/>
              </a:ext>
            </a:extLst>
          </p:cNvPr>
          <p:cNvSpPr/>
          <p:nvPr/>
        </p:nvSpPr>
        <p:spPr>
          <a:xfrm>
            <a:off x="675068" y="1026774"/>
            <a:ext cx="11076665" cy="550949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>
            <a:outerShdw blurRad="747892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>
              <a:solidFill>
                <a:srgbClr val="256080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7763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8616A-4381-00C9-BF25-DC1D0791C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5EAF9E1-8590-D4DA-D9DC-459C5E0943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Methodology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17353A1-40CB-1E35-3628-35F630852539}"/>
              </a:ext>
            </a:extLst>
          </p:cNvPr>
          <p:cNvGrpSpPr/>
          <p:nvPr/>
        </p:nvGrpSpPr>
        <p:grpSpPr>
          <a:xfrm>
            <a:off x="886130" y="1277728"/>
            <a:ext cx="6780797" cy="544765"/>
            <a:chOff x="1206557" y="1499842"/>
            <a:chExt cx="6780797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5FFDC9-2B05-2FB3-F273-268AFE05E7BC}"/>
                </a:ext>
              </a:extLst>
            </p:cNvPr>
            <p:cNvSpPr txBox="1"/>
            <p:nvPr/>
          </p:nvSpPr>
          <p:spPr>
            <a:xfrm>
              <a:off x="1473257" y="1499842"/>
              <a:ext cx="6514097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r>
                <a:rPr lang="en-US" altLang="ko-KR" dirty="0">
                  <a:solidFill>
                    <a:srgbClr val="0B1749"/>
                  </a:solidFill>
                </a:rPr>
                <a:t>IGT</a:t>
              </a:r>
              <a:r>
                <a:rPr lang="ko-KR" altLang="en-US" dirty="0">
                  <a:solidFill>
                    <a:srgbClr val="0B1749"/>
                  </a:solidFill>
                </a:rPr>
                <a:t> </a:t>
              </a:r>
              <a:r>
                <a:rPr lang="en-US" altLang="ko-KR" dirty="0">
                  <a:solidFill>
                    <a:srgbClr val="0B1749"/>
                  </a:solidFill>
                </a:rPr>
                <a:t>environment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AB7DA9A7-8FA7-E504-9874-3F9B972D9C77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56D61E68-9DB8-5D34-C261-DF47F951C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" b="21715"/>
          <a:stretch>
            <a:fillRect/>
          </a:stretch>
        </p:blipFill>
        <p:spPr bwMode="auto">
          <a:xfrm>
            <a:off x="346429" y="2741385"/>
            <a:ext cx="5851979" cy="248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86C148-5F92-A1B5-937C-80EB44314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08291"/>
            <a:ext cx="5749571" cy="26328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E3B1D7-2891-AEB3-A2FF-AB9B4A760754}"/>
              </a:ext>
            </a:extLst>
          </p:cNvPr>
          <p:cNvSpPr txBox="1"/>
          <p:nvPr/>
        </p:nvSpPr>
        <p:spPr>
          <a:xfrm>
            <a:off x="9794347" y="5226956"/>
            <a:ext cx="22308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100" b="1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Horstmann et al. (2012)</a:t>
            </a:r>
          </a:p>
        </p:txBody>
      </p:sp>
    </p:spTree>
    <p:extLst>
      <p:ext uri="{BB962C8B-B14F-4D97-AF65-F5344CB8AC3E}">
        <p14:creationId xmlns:p14="http://schemas.microsoft.com/office/powerpoint/2010/main" val="2507769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F155-402D-C950-19CB-FB2270BE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719CB4-3763-AE69-B20D-19EDFA9949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Methodology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12F0EC5-0D1D-AEAD-5BEB-1744D945F5B4}"/>
              </a:ext>
            </a:extLst>
          </p:cNvPr>
          <p:cNvGrpSpPr/>
          <p:nvPr/>
        </p:nvGrpSpPr>
        <p:grpSpPr>
          <a:xfrm>
            <a:off x="886130" y="1277728"/>
            <a:ext cx="6780797" cy="544765"/>
            <a:chOff x="1206557" y="1499842"/>
            <a:chExt cx="6780797" cy="5447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2D3A4C-05B9-C8B6-7F30-6D9F23AD1725}"/>
                </a:ext>
              </a:extLst>
            </p:cNvPr>
            <p:cNvSpPr txBox="1"/>
            <p:nvPr/>
          </p:nvSpPr>
          <p:spPr>
            <a:xfrm>
              <a:off x="1473257" y="1499842"/>
              <a:ext cx="6514097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r>
                <a:rPr lang="en-US" altLang="ko-KR" dirty="0">
                  <a:solidFill>
                    <a:srgbClr val="0B1749"/>
                  </a:solidFill>
                </a:rPr>
                <a:t>Models used</a:t>
              </a:r>
            </a:p>
          </p:txBody>
        </p:sp>
        <p:sp>
          <p:nvSpPr>
            <p:cNvPr id="7" name="평행 사변형 44">
              <a:extLst>
                <a:ext uri="{FF2B5EF4-FFF2-40B4-BE49-F238E27FC236}">
                  <a16:creationId xmlns:a16="http://schemas.microsoft.com/office/drawing/2014/main" id="{88818B1D-4DE0-2B25-21C2-85EE36A404A1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텍스트 개체 틀 6">
                <a:extLst>
                  <a:ext uri="{FF2B5EF4-FFF2-40B4-BE49-F238E27FC236}">
                    <a16:creationId xmlns:a16="http://schemas.microsoft.com/office/drawing/2014/main" id="{2DBF6A2D-5AB9-BABA-91ED-7776C79D7D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3924" y="2046665"/>
                <a:ext cx="8191392" cy="1415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lnSpc>
                    <a:spcPct val="130000"/>
                  </a:lnSpc>
                  <a:defRPr>
                    <a:solidFill>
                      <a:srgbClr val="181818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l-GR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α: </a:t>
                </a:r>
                <a:r>
                  <a:rPr lang="en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the learning rate</a:t>
                </a:r>
              </a:p>
              <a:p>
                <a:r>
                  <a:rPr lang="el-GR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β: </a:t>
                </a:r>
                <a:r>
                  <a:rPr lang="en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the inverse temperature</a:t>
                </a:r>
              </a:p>
              <a:p>
                <a:r>
                  <a:rPr lang="en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Updating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Q</m:t>
                    </m:r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←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ko-KR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ko-KR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  <m:func>
                      <m:func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  <m:r>
                              <a:rPr lang="en-US" altLang="ko-K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lim>
                        </m:limLow>
                      </m:fName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𝑄</m:t>
                        </m:r>
                        <m:d>
                          <m:dPr>
                            <m:ctrlPr>
                              <a:rPr lang="en-US" altLang="ko-K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ko-K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𝑄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func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" altLang="ko-KR" sz="2000" dirty="0">
                  <a:solidFill>
                    <a:srgbClr val="000000"/>
                  </a:solidFill>
                  <a:latin typeface="KoPubWorldDotum Medium" pitchFamily="2" charset="-127"/>
                  <a:ea typeface="KoPubWorldDotum Medium" pitchFamily="2" charset="-127"/>
                  <a:cs typeface="KoPubWorldDotum Medium" pitchFamily="2" charset="-127"/>
                </a:endParaRPr>
              </a:p>
            </p:txBody>
          </p:sp>
        </mc:Choice>
        <mc:Fallback xmlns="">
          <p:sp>
            <p:nvSpPr>
              <p:cNvPr id="11" name="텍스트 개체 틀 6">
                <a:extLst>
                  <a:ext uri="{FF2B5EF4-FFF2-40B4-BE49-F238E27FC236}">
                    <a16:creationId xmlns:a16="http://schemas.microsoft.com/office/drawing/2014/main" id="{2DBF6A2D-5AB9-BABA-91ED-7776C79D7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924" y="2046665"/>
                <a:ext cx="8191392" cy="1415965"/>
              </a:xfrm>
              <a:prstGeom prst="rect">
                <a:avLst/>
              </a:prstGeom>
              <a:blipFill>
                <a:blip r:embed="rId3"/>
                <a:stretch>
                  <a:fillRect l="-773" b="-26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텍스트 개체 틀 6">
                <a:extLst>
                  <a:ext uri="{FF2B5EF4-FFF2-40B4-BE49-F238E27FC236}">
                    <a16:creationId xmlns:a16="http://schemas.microsoft.com/office/drawing/2014/main" id="{7DFC56E4-02D8-7817-4485-2A787B3FA0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63924" y="4160085"/>
                <a:ext cx="8191392" cy="1269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lnSpc>
                    <a:spcPct val="130000"/>
                  </a:lnSpc>
                  <a:defRPr>
                    <a:solidFill>
                      <a:srgbClr val="181818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l-GR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α</a:t>
                </a:r>
                <a:r>
                  <a:rPr lang="en-US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+</a:t>
                </a:r>
                <a:r>
                  <a:rPr lang="en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: the learning rate for positive prediction errors</a:t>
                </a:r>
              </a:p>
              <a:p>
                <a:r>
                  <a:rPr lang="el-GR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α</a:t>
                </a:r>
                <a:r>
                  <a:rPr lang="en-US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-</a:t>
                </a:r>
                <a:r>
                  <a:rPr lang="en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: the learning rate for negative prediction errors</a:t>
                </a:r>
              </a:p>
              <a:p>
                <a:r>
                  <a:rPr lang="en" altLang="ko-KR" sz="2000" dirty="0">
                    <a:solidFill>
                      <a:srgbClr val="000000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rPr>
                  <a:t>Updating rule: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←</m:t>
                    </m:r>
                    <m:sSub>
                      <m:sSub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ko-KR" alt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gain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b>
                    </m:sSub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))</m:t>
                    </m:r>
                  </m:oMath>
                </a14:m>
                <a:endParaRPr lang="en" altLang="ko-KR" sz="2000" dirty="0">
                  <a:solidFill>
                    <a:srgbClr val="000000"/>
                  </a:solidFill>
                  <a:latin typeface="KoPubWorldDotum Medium" pitchFamily="2" charset="-127"/>
                  <a:ea typeface="KoPubWorldDotum Medium" pitchFamily="2" charset="-127"/>
                  <a:cs typeface="KoPubWorldDotum Medium" pitchFamily="2" charset="-127"/>
                </a:endParaRPr>
              </a:p>
            </p:txBody>
          </p:sp>
        </mc:Choice>
        <mc:Fallback xmlns="">
          <p:sp>
            <p:nvSpPr>
              <p:cNvPr id="13" name="텍스트 개체 틀 6">
                <a:extLst>
                  <a:ext uri="{FF2B5EF4-FFF2-40B4-BE49-F238E27FC236}">
                    <a16:creationId xmlns:a16="http://schemas.microsoft.com/office/drawing/2014/main" id="{7DFC56E4-02D8-7817-4485-2A787B3FA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924" y="4160085"/>
                <a:ext cx="8191392" cy="1269578"/>
              </a:xfrm>
              <a:prstGeom prst="rect">
                <a:avLst/>
              </a:prstGeom>
              <a:blipFill>
                <a:blip r:embed="rId4"/>
                <a:stretch>
                  <a:fillRect l="-773" b="-8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A200D6-7C66-4F51-3AA9-D26277769209}"/>
                  </a:ext>
                </a:extLst>
              </p:cNvPr>
              <p:cNvSpPr txBox="1"/>
              <p:nvPr/>
            </p:nvSpPr>
            <p:spPr>
              <a:xfrm>
                <a:off x="5053612" y="5343085"/>
                <a:ext cx="612321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←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∙(|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|−</m:t>
                      </m:r>
                      <m:sSub>
                        <m:sSubPr>
                          <m:ctrlP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altLang="ko-K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))</m:t>
                      </m:r>
                    </m:oMath>
                  </m:oMathPara>
                </a14:m>
                <a:endParaRPr lang="en-US" altLang="ko-KR" sz="2000" dirty="0">
                  <a:latin typeface="KoPubWorldDotum Medium" pitchFamily="2" charset="-127"/>
                  <a:ea typeface="KoPubWorldDotum Medium" pitchFamily="2" charset="-127"/>
                  <a:cs typeface="KoPubWorldDotum Medium" pitchFamily="2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>
                  <a:latin typeface="KoPubWorldDotum Medium" pitchFamily="2" charset="-127"/>
                  <a:ea typeface="KoPubWorldDotum Medium" pitchFamily="2" charset="-127"/>
                  <a:cs typeface="KoPubWorldDotum Medium" pitchFamily="2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A200D6-7C66-4F51-3AA9-D26277769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612" y="5343085"/>
                <a:ext cx="6123214" cy="1015663"/>
              </a:xfrm>
              <a:prstGeom prst="rect">
                <a:avLst/>
              </a:prstGeom>
              <a:blipFill>
                <a:blip r:embed="rId5"/>
                <a:stretch>
                  <a:fillRect l="-2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C3E3689F-DC29-7D48-3AE8-72EEB160EFAF}"/>
              </a:ext>
            </a:extLst>
          </p:cNvPr>
          <p:cNvSpPr txBox="1">
            <a:spLocks/>
          </p:cNvSpPr>
          <p:nvPr/>
        </p:nvSpPr>
        <p:spPr>
          <a:xfrm>
            <a:off x="1166932" y="1891689"/>
            <a:ext cx="354794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/>
            </a:pPr>
            <a:r>
              <a:rPr lang="en" altLang="ko-KR" sz="2000" b="1" i="0" u="none" strike="noStrike" dirty="0">
                <a:solidFill>
                  <a:srgbClr val="000000"/>
                </a:solidFill>
                <a:effectLst/>
              </a:rPr>
              <a:t>Q-learning</a:t>
            </a: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19" name="텍스트 개체 틀 6">
            <a:extLst>
              <a:ext uri="{FF2B5EF4-FFF2-40B4-BE49-F238E27FC236}">
                <a16:creationId xmlns:a16="http://schemas.microsoft.com/office/drawing/2014/main" id="{69BD8F67-4993-D6BE-F780-23108793511E}"/>
              </a:ext>
            </a:extLst>
          </p:cNvPr>
          <p:cNvSpPr txBox="1">
            <a:spLocks/>
          </p:cNvSpPr>
          <p:nvPr/>
        </p:nvSpPr>
        <p:spPr>
          <a:xfrm>
            <a:off x="1152830" y="3617387"/>
            <a:ext cx="4656465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2"/>
            </a:pPr>
            <a:r>
              <a:rPr lang="en" altLang="ko-KR" sz="2000" b="1" dirty="0">
                <a:solidFill>
                  <a:srgbClr val="000000"/>
                </a:solidFill>
              </a:rPr>
              <a:t>Valance specific Q-learning</a:t>
            </a:r>
          </a:p>
        </p:txBody>
      </p:sp>
    </p:spTree>
    <p:extLst>
      <p:ext uri="{BB962C8B-B14F-4D97-AF65-F5344CB8AC3E}">
        <p14:creationId xmlns:p14="http://schemas.microsoft.com/office/powerpoint/2010/main" val="26940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3E28-395F-4ADE-8B30-D8431B50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FC518EE0-7817-C9C1-8BBC-F94EF473DD5C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476ABF-36AC-C835-831F-4129AD82487A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Classification of participants who successfully learned the IGT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8B7B5C02-43F7-4378-F082-9AFB282ED310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319E77-A9A1-67CE-FE9F-E4A5B5BCD5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Methodology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8E2A6B-91A3-58DC-BD15-44CDE4D72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204" y="2422899"/>
            <a:ext cx="5183907" cy="341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69D3A06E-F150-C6AA-323D-44FB1AD6925A}"/>
              </a:ext>
            </a:extLst>
          </p:cNvPr>
          <p:cNvSpPr txBox="1">
            <a:spLocks/>
          </p:cNvSpPr>
          <p:nvPr/>
        </p:nvSpPr>
        <p:spPr>
          <a:xfrm>
            <a:off x="6928374" y="3136634"/>
            <a:ext cx="4924414" cy="775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>
                <a:latin typeface="Arial" panose="020B0604020202020204" pitchFamily="34" charset="0"/>
                <a:cs typeface="Arial" panose="020B0604020202020204" pitchFamily="34" charset="0"/>
              </a:rPr>
              <a:t>198 participants were identified as successful learners out of 602 participants</a:t>
            </a:r>
            <a:endParaRPr lang="en" altLang="ko-KR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99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4B4B-30F5-821E-EE44-74F494EC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DD0983-58F6-253A-58E6-A2DD42C3D2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Methodology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D17E6C-9BCB-29BA-01CA-C0E92F1E969A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8024B9-254C-397C-323C-AD449DACE1E0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Parameter estimation and Clustering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9FE475F5-E94C-81CE-50CB-6EFD33CF79EC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B78ED94A-6379-2DBD-7CC3-CC5EA2171AD6}"/>
              </a:ext>
            </a:extLst>
          </p:cNvPr>
          <p:cNvSpPr txBox="1">
            <a:spLocks/>
          </p:cNvSpPr>
          <p:nvPr/>
        </p:nvSpPr>
        <p:spPr>
          <a:xfrm>
            <a:off x="1166932" y="2076222"/>
            <a:ext cx="3547943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/>
            </a:pPr>
            <a:r>
              <a:rPr lang="en" altLang="ko-KR" b="1" i="0" u="none" strike="noStrike" dirty="0">
                <a:solidFill>
                  <a:srgbClr val="000000"/>
                </a:solidFill>
                <a:effectLst/>
              </a:rPr>
              <a:t>Grid Search</a:t>
            </a:r>
            <a:endParaRPr lang="en" altLang="ko-KR" b="1" dirty="0">
              <a:solidFill>
                <a:srgbClr val="000000"/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C93B23F-FAF0-28C5-6080-89D92441D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7" y="2104797"/>
            <a:ext cx="5233917" cy="176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5BFCB8EA-E6EA-FE85-5989-5B262AAE3E29}"/>
              </a:ext>
            </a:extLst>
          </p:cNvPr>
          <p:cNvSpPr txBox="1">
            <a:spLocks/>
          </p:cNvSpPr>
          <p:nvPr/>
        </p:nvSpPr>
        <p:spPr>
          <a:xfrm>
            <a:off x="1166932" y="4294910"/>
            <a:ext cx="3984280" cy="431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2"/>
            </a:pPr>
            <a:r>
              <a:rPr lang="en" altLang="ko-KR" b="1" i="0" u="none" strike="noStrike" dirty="0">
                <a:solidFill>
                  <a:srgbClr val="000000"/>
                </a:solidFill>
                <a:effectLst/>
              </a:rPr>
              <a:t>Estimate Value based on MLE</a:t>
            </a:r>
            <a:endParaRPr lang="en" altLang="ko-KR" b="1" dirty="0">
              <a:solidFill>
                <a:srgbClr val="000000"/>
              </a:solidFill>
            </a:endParaRPr>
          </a:p>
        </p:txBody>
      </p:sp>
      <p:pic>
        <p:nvPicPr>
          <p:cNvPr id="8" name="그림 7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E5F81E-9F0C-1C87-B481-514199E84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21"/>
          <a:stretch>
            <a:fillRect/>
          </a:stretch>
        </p:blipFill>
        <p:spPr>
          <a:xfrm>
            <a:off x="5151212" y="4294910"/>
            <a:ext cx="5233917" cy="219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94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3806-0A08-484A-8826-C9D5B925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1190EBF-E2CF-88F8-6B98-D6FA3B7BF1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Methodology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58CF919-4512-9D2B-8CF0-02FD6C39E02E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85EBE8-896D-7DA6-BAB6-CCFD2715C504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Parameter estimation and Clustering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CE5499D6-DD7D-1163-8682-32B2844DB491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66A53674-3B35-9E73-5E6C-0849C4E771B3}"/>
              </a:ext>
            </a:extLst>
          </p:cNvPr>
          <p:cNvSpPr txBox="1">
            <a:spLocks/>
          </p:cNvSpPr>
          <p:nvPr/>
        </p:nvSpPr>
        <p:spPr>
          <a:xfrm>
            <a:off x="1328857" y="1851683"/>
            <a:ext cx="5960943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3"/>
            </a:pPr>
            <a:r>
              <a:rPr lang="en" altLang="ko-KR" b="1" dirty="0">
                <a:solidFill>
                  <a:srgbClr val="000000"/>
                </a:solidFill>
              </a:rPr>
              <a:t>Check the parameter distribution</a:t>
            </a:r>
            <a:endParaRPr lang="en" altLang="ko-KR" b="1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>
              <a:buFont typeface="+mj-ea"/>
              <a:buAutoNum type="circleNumDbPlain" startAt="3"/>
            </a:pPr>
            <a:endParaRPr lang="en" altLang="ko-KR" b="1" dirty="0">
              <a:solidFill>
                <a:srgbClr val="000000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33819A-A5AB-61F8-EDCB-964CC25A6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904" y="2490921"/>
            <a:ext cx="2609850" cy="205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5DF3052-541B-B6FF-55F0-D110CCA2F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904" y="4610439"/>
            <a:ext cx="2609850" cy="205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ECBFEC4-FC6F-EAB5-F66F-96A197BF9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636" y="2490921"/>
            <a:ext cx="2609850" cy="205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6A0AEC1-0DEE-48AB-8BCB-8A373351D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113" y="4551184"/>
            <a:ext cx="2623373" cy="205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9D1D0E24-1299-27A8-9E26-A0F4003E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323" y="2448264"/>
            <a:ext cx="2623373" cy="210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ED6EF405-3578-9F7E-1DE4-2E22A25F7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324" y="4626314"/>
            <a:ext cx="2550282" cy="204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798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A154E-E607-E3BB-3035-AA558D18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BF4047C-AA91-2BCA-11C2-7256AADD04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Methodology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163B513-CB2D-3E86-C277-6F85D9A0AA2B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E5C07E-23C0-ACF3-90C2-4D40ACA12656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Parameter estimation and Clustering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4938DC94-8E54-8F97-D8F7-F4A8A8BD79D2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pic>
        <p:nvPicPr>
          <p:cNvPr id="5" name="그림 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8E7615-34A3-B8B3-909C-C91215D4D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08" y="2561664"/>
            <a:ext cx="4591902" cy="3492000"/>
          </a:xfrm>
          <a:prstGeom prst="rect">
            <a:avLst/>
          </a:prstGeom>
        </p:spPr>
      </p:pic>
      <p:pic>
        <p:nvPicPr>
          <p:cNvPr id="7" name="그림 6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0F57EC-E90B-F1D1-0EAC-B424179BE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392" y="2561664"/>
            <a:ext cx="4882620" cy="3492000"/>
          </a:xfrm>
          <a:prstGeom prst="rect">
            <a:avLst/>
          </a:prstGeom>
        </p:spPr>
      </p:pic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528549A6-F48D-EFE9-5D0E-1055AA0F4CA6}"/>
              </a:ext>
            </a:extLst>
          </p:cNvPr>
          <p:cNvSpPr txBox="1">
            <a:spLocks/>
          </p:cNvSpPr>
          <p:nvPr/>
        </p:nvSpPr>
        <p:spPr>
          <a:xfrm>
            <a:off x="1328857" y="1851683"/>
            <a:ext cx="5960943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4"/>
            </a:pPr>
            <a:r>
              <a:rPr lang="en-US" altLang="ko-KR" b="1" i="0" u="none" strike="noStrike" dirty="0">
                <a:solidFill>
                  <a:srgbClr val="000000"/>
                </a:solidFill>
                <a:effectLst/>
              </a:rPr>
              <a:t>Subject Clustering</a:t>
            </a:r>
            <a:endParaRPr lang="en" altLang="ko-KR" b="1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>
              <a:buFont typeface="+mj-ea"/>
              <a:buAutoNum type="circleNumDbPlain" startAt="4"/>
            </a:pPr>
            <a:endParaRPr lang="en" altLang="ko-KR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950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8066C-77AF-9A9E-9B2F-AD0BF670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993760D-ECFC-758D-F4E8-EDD92CC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5C56790-2039-10D5-31A1-3A93ED0AE477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A8E97B-5E58-AA24-62F0-C0D7AE855C58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Estimated parameter applied Simulation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9D3CBDE4-067B-0EB4-734C-E073647FC680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3D2C64C2-69EA-2740-86FA-0BDA2CD549FC}"/>
              </a:ext>
            </a:extLst>
          </p:cNvPr>
          <p:cNvSpPr txBox="1">
            <a:spLocks/>
          </p:cNvSpPr>
          <p:nvPr/>
        </p:nvSpPr>
        <p:spPr>
          <a:xfrm>
            <a:off x="1152830" y="1860196"/>
            <a:ext cx="6795968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/>
            </a:pPr>
            <a:r>
              <a:rPr lang="en" altLang="ko-KR" sz="2000" b="1" i="0" u="none" strike="noStrike" dirty="0">
                <a:solidFill>
                  <a:srgbClr val="000000"/>
                </a:solidFill>
                <a:effectLst/>
              </a:rPr>
              <a:t>Q-learning for cluster </a:t>
            </a:r>
            <a:r>
              <a:rPr lang="en" altLang="ko-KR" sz="2000" b="1" dirty="0">
                <a:solidFill>
                  <a:srgbClr val="000000"/>
                </a:solidFill>
              </a:rPr>
              <a:t>0 (high 𝜶, low 𝜷)</a:t>
            </a:r>
            <a:endParaRPr lang="en" altLang="ko-KR" sz="2000" b="1" i="0" u="none" strike="noStrike" dirty="0">
              <a:solidFill>
                <a:srgbClr val="000000"/>
              </a:solidFill>
              <a:effectLst/>
            </a:endParaRPr>
          </a:p>
          <a:p>
            <a:endParaRPr lang="en" altLang="ko-KR" sz="2000" b="1" dirty="0">
              <a:solidFill>
                <a:srgbClr val="000000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403D428-1CC7-ABD5-03BF-3FC7BBAAD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188" y="2931504"/>
            <a:ext cx="4244281" cy="328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ABAEB19-318C-353F-6D43-42C827C9B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036" y="2964345"/>
            <a:ext cx="4244280" cy="321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텍스트 개체 틀 6">
            <a:extLst>
              <a:ext uri="{FF2B5EF4-FFF2-40B4-BE49-F238E27FC236}">
                <a16:creationId xmlns:a16="http://schemas.microsoft.com/office/drawing/2014/main" id="{E6F49894-63D6-426E-F3C3-C433B1AB0000}"/>
              </a:ext>
            </a:extLst>
          </p:cNvPr>
          <p:cNvSpPr txBox="1">
            <a:spLocks/>
          </p:cNvSpPr>
          <p:nvPr/>
        </p:nvSpPr>
        <p:spPr>
          <a:xfrm>
            <a:off x="2614756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Cumulative Rewards</a:t>
            </a: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B33BE060-CA31-B3D3-9BA7-53CEEF17FEC7}"/>
              </a:ext>
            </a:extLst>
          </p:cNvPr>
          <p:cNvSpPr txBox="1">
            <a:spLocks/>
          </p:cNvSpPr>
          <p:nvPr/>
        </p:nvSpPr>
        <p:spPr>
          <a:xfrm>
            <a:off x="7659548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Q value for action</a:t>
            </a:r>
          </a:p>
        </p:txBody>
      </p:sp>
    </p:spTree>
    <p:extLst>
      <p:ext uri="{BB962C8B-B14F-4D97-AF65-F5344CB8AC3E}">
        <p14:creationId xmlns:p14="http://schemas.microsoft.com/office/powerpoint/2010/main" val="3740601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86A2-6967-8778-C476-023BD705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B4B9523-4B90-C137-712F-07C76FD03E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1757B7D-B39D-4A9C-71F9-39033E8F47C3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41EDE1-ACFC-E2E6-9AB5-938DFA1BF3F0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Estimated parameter applied Simulation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14F98776-00DA-2BA8-E995-683BA5935440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E740CB77-98BF-D5E1-F65A-D2CA3E61C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995" y="2926642"/>
            <a:ext cx="4648200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874929F-850F-C970-3E75-837C9DD77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815" y="2926642"/>
            <a:ext cx="4791190" cy="346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15C959E6-FFF3-BBC6-E889-B3E4FCF355A9}"/>
              </a:ext>
            </a:extLst>
          </p:cNvPr>
          <p:cNvSpPr txBox="1">
            <a:spLocks/>
          </p:cNvSpPr>
          <p:nvPr/>
        </p:nvSpPr>
        <p:spPr>
          <a:xfrm>
            <a:off x="1152830" y="1860196"/>
            <a:ext cx="6795968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2"/>
            </a:pPr>
            <a:r>
              <a:rPr lang="en" altLang="ko-KR" sz="2000" b="1" i="0" u="none" strike="noStrike" dirty="0">
                <a:solidFill>
                  <a:srgbClr val="000000"/>
                </a:solidFill>
                <a:effectLst/>
              </a:rPr>
              <a:t>Q-learning for cluster 1 (low 𝜶, high 𝜷)</a:t>
            </a:r>
          </a:p>
          <a:p>
            <a:pPr marL="457200" indent="-457200">
              <a:buFont typeface="+mj-ea"/>
              <a:buAutoNum type="circleNumDbPlain" startAt="2"/>
            </a:pP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E08194-23D1-A3E8-BC23-649CBBB782D8}"/>
              </a:ext>
            </a:extLst>
          </p:cNvPr>
          <p:cNvSpPr txBox="1">
            <a:spLocks/>
          </p:cNvSpPr>
          <p:nvPr/>
        </p:nvSpPr>
        <p:spPr>
          <a:xfrm>
            <a:off x="2614756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Cumulative Rewards</a:t>
            </a:r>
          </a:p>
        </p:txBody>
      </p:sp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8C2D5FBF-014D-34E1-0E14-B6E4FFDA5EFF}"/>
              </a:ext>
            </a:extLst>
          </p:cNvPr>
          <p:cNvSpPr txBox="1">
            <a:spLocks/>
          </p:cNvSpPr>
          <p:nvPr/>
        </p:nvSpPr>
        <p:spPr>
          <a:xfrm>
            <a:off x="7659548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Q value for action</a:t>
            </a:r>
          </a:p>
        </p:txBody>
      </p:sp>
    </p:spTree>
    <p:extLst>
      <p:ext uri="{BB962C8B-B14F-4D97-AF65-F5344CB8AC3E}">
        <p14:creationId xmlns:p14="http://schemas.microsoft.com/office/powerpoint/2010/main" val="2715566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D93BD-0F72-EB14-E98B-AEEB9BAA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C1B1FE4-D081-4BE7-3818-F16E0E8933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2F0F0F6-E728-51AE-B9AC-1EC4DA47EDB8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0A325C-75B1-920C-1F28-B7443C5440AD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Estimated parameter applied Simulation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7F3E858F-A068-4A22-1248-FC09CD315A32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DC901A74-C943-F0CB-C2F2-C85AF3168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293" y="2926642"/>
            <a:ext cx="4253667" cy="324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D14009F7-06F8-EC47-6544-A884747DC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973" y="2926642"/>
            <a:ext cx="4375200" cy="324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0FA67B0E-051A-9115-372A-3DADF7023F7E}"/>
              </a:ext>
            </a:extLst>
          </p:cNvPr>
          <p:cNvSpPr txBox="1">
            <a:spLocks/>
          </p:cNvSpPr>
          <p:nvPr/>
        </p:nvSpPr>
        <p:spPr>
          <a:xfrm>
            <a:off x="1152830" y="1860196"/>
            <a:ext cx="6795968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3"/>
            </a:pPr>
            <a:r>
              <a:rPr lang="en" altLang="ko-KR" sz="2000" b="1" dirty="0">
                <a:solidFill>
                  <a:srgbClr val="000000"/>
                </a:solidFill>
              </a:rPr>
              <a:t>Valance specific Q-learning for cluster 0 (low w)</a:t>
            </a:r>
            <a:endParaRPr lang="en-US" altLang="ko-KR" sz="20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A686A46-99CC-A268-7751-D41F5C799C17}"/>
              </a:ext>
            </a:extLst>
          </p:cNvPr>
          <p:cNvSpPr txBox="1">
            <a:spLocks/>
          </p:cNvSpPr>
          <p:nvPr/>
        </p:nvSpPr>
        <p:spPr>
          <a:xfrm>
            <a:off x="2614756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Cumulative Rewards</a:t>
            </a:r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C2B4817C-9EF2-CA4A-C282-CDA3657A1C88}"/>
              </a:ext>
            </a:extLst>
          </p:cNvPr>
          <p:cNvSpPr txBox="1">
            <a:spLocks/>
          </p:cNvSpPr>
          <p:nvPr/>
        </p:nvSpPr>
        <p:spPr>
          <a:xfrm>
            <a:off x="7659548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Q value for action</a:t>
            </a:r>
          </a:p>
        </p:txBody>
      </p:sp>
    </p:spTree>
    <p:extLst>
      <p:ext uri="{BB962C8B-B14F-4D97-AF65-F5344CB8AC3E}">
        <p14:creationId xmlns:p14="http://schemas.microsoft.com/office/powerpoint/2010/main" val="1033669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A2087-800F-3233-84CE-2992FF607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F6EA91C-F751-C47C-D7C7-5DAEF5D102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7630F-492B-5D14-AE8E-4C04A8CC6B8F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FD09AAC-8C2A-838D-CCB8-8C3920CF1674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Estimated parameter applied Simulation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C67B95CD-4454-BB45-C5D4-4FD9E7D0C1A5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2E94A76-F40D-5634-A9FB-9DCAE8901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573" y="2993427"/>
            <a:ext cx="4267970" cy="30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755C1476-0485-2154-FEFB-2FAD2FB6B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2926642"/>
            <a:ext cx="4267970" cy="323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4638E17D-C788-81E1-6EE7-ABA488AFB4B8}"/>
              </a:ext>
            </a:extLst>
          </p:cNvPr>
          <p:cNvSpPr txBox="1">
            <a:spLocks/>
          </p:cNvSpPr>
          <p:nvPr/>
        </p:nvSpPr>
        <p:spPr>
          <a:xfrm>
            <a:off x="2614756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Cumulative Rewards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7E45FA6-470A-147C-9033-A8B8617DF25E}"/>
              </a:ext>
            </a:extLst>
          </p:cNvPr>
          <p:cNvSpPr txBox="1">
            <a:spLocks/>
          </p:cNvSpPr>
          <p:nvPr/>
        </p:nvSpPr>
        <p:spPr>
          <a:xfrm>
            <a:off x="7659548" y="2532688"/>
            <a:ext cx="3036768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600" b="1" dirty="0">
                <a:solidFill>
                  <a:srgbClr val="000000"/>
                </a:solidFill>
              </a:rPr>
              <a:t>Q value for action</a:t>
            </a:r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C8E20D73-2B66-F3DB-7931-7C931B94EF7A}"/>
              </a:ext>
            </a:extLst>
          </p:cNvPr>
          <p:cNvSpPr txBox="1">
            <a:spLocks/>
          </p:cNvSpPr>
          <p:nvPr/>
        </p:nvSpPr>
        <p:spPr>
          <a:xfrm>
            <a:off x="1152830" y="1860196"/>
            <a:ext cx="6795968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4"/>
            </a:pPr>
            <a:r>
              <a:rPr lang="en" altLang="ko-KR" sz="2000" b="1" dirty="0">
                <a:solidFill>
                  <a:srgbClr val="000000"/>
                </a:solidFill>
              </a:rPr>
              <a:t>Valance specific Q-learning for cluster 1 (high w)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99676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4656-C2CA-C762-6DBD-AA8C46D5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E4F668D-C608-FC8B-A9EB-FAC84E53DA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5957951-95B3-78F1-4846-EA38233D9C68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E5687F-39F0-9A05-3C82-F3C0FEE26C25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Estimated parameter of team members applied Simulation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70C288E7-495D-2130-29FB-90DF7A1C4CAC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4F08978F-1C59-CC98-5AD6-259B4DFDABEE}"/>
              </a:ext>
            </a:extLst>
          </p:cNvPr>
          <p:cNvSpPr txBox="1">
            <a:spLocks/>
          </p:cNvSpPr>
          <p:nvPr/>
        </p:nvSpPr>
        <p:spPr>
          <a:xfrm>
            <a:off x="1152830" y="2005686"/>
            <a:ext cx="6348108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/>
            </a:pPr>
            <a:r>
              <a:rPr lang="ko-KR" altLang="en-US" sz="2000" b="1" dirty="0">
                <a:solidFill>
                  <a:srgbClr val="000000"/>
                </a:solidFill>
              </a:rPr>
              <a:t>강승수</a:t>
            </a:r>
            <a:endParaRPr lang="en-US" altLang="ko-KR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6AC5E2-2C03-ADE2-E36C-60AD94D70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636" y="2313978"/>
            <a:ext cx="2684827" cy="20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CD72E9C-FCBE-7640-114E-A250D1DFF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341" y="2313979"/>
            <a:ext cx="2710659" cy="206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68D448E-6E2F-038A-4ECC-0F37878E9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636" y="4634309"/>
            <a:ext cx="2684827" cy="205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8673A8F-679A-4F5C-508F-543A6516A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342" y="4634860"/>
            <a:ext cx="2712439" cy="20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텍스트 개체 틀 6">
            <a:extLst>
              <a:ext uri="{FF2B5EF4-FFF2-40B4-BE49-F238E27FC236}">
                <a16:creationId xmlns:a16="http://schemas.microsoft.com/office/drawing/2014/main" id="{FF236A42-A8B6-D42D-5512-5469EFA5549F}"/>
              </a:ext>
            </a:extLst>
          </p:cNvPr>
          <p:cNvSpPr txBox="1">
            <a:spLocks/>
          </p:cNvSpPr>
          <p:nvPr/>
        </p:nvSpPr>
        <p:spPr>
          <a:xfrm>
            <a:off x="9327782" y="2475045"/>
            <a:ext cx="1711388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</a:rPr>
              <a:t>Q-learning</a:t>
            </a: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2E714A24-C57B-EE62-AF68-1425992F726A}"/>
              </a:ext>
            </a:extLst>
          </p:cNvPr>
          <p:cNvSpPr txBox="1">
            <a:spLocks/>
          </p:cNvSpPr>
          <p:nvPr/>
        </p:nvSpPr>
        <p:spPr>
          <a:xfrm>
            <a:off x="9300458" y="4747234"/>
            <a:ext cx="1711388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</a:rPr>
              <a:t>VS Q-learning</a:t>
            </a: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00E25E58-DAC9-F9D1-4DF7-F9F23272AFDE}"/>
              </a:ext>
            </a:extLst>
          </p:cNvPr>
          <p:cNvSpPr txBox="1">
            <a:spLocks/>
          </p:cNvSpPr>
          <p:nvPr/>
        </p:nvSpPr>
        <p:spPr>
          <a:xfrm>
            <a:off x="3545636" y="1920759"/>
            <a:ext cx="2453297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400" b="1" dirty="0">
                <a:solidFill>
                  <a:srgbClr val="000000"/>
                </a:solidFill>
              </a:rPr>
              <a:t>Cumulative Rewards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FA71C3E-159F-0905-89EF-531839EA9EF0}"/>
              </a:ext>
            </a:extLst>
          </p:cNvPr>
          <p:cNvSpPr txBox="1">
            <a:spLocks/>
          </p:cNvSpPr>
          <p:nvPr/>
        </p:nvSpPr>
        <p:spPr>
          <a:xfrm>
            <a:off x="7124353" y="1935711"/>
            <a:ext cx="2534772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400" b="1" dirty="0">
                <a:solidFill>
                  <a:srgbClr val="000000"/>
                </a:solidFill>
              </a:rPr>
              <a:t>Q value for action</a:t>
            </a:r>
          </a:p>
        </p:txBody>
      </p:sp>
    </p:spTree>
    <p:extLst>
      <p:ext uri="{BB962C8B-B14F-4D97-AF65-F5344CB8AC3E}">
        <p14:creationId xmlns:p14="http://schemas.microsoft.com/office/powerpoint/2010/main" val="3252929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516F-0EC0-E837-9334-E3664E62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5209FE-8964-D240-5ACE-0B52318968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C748A3B-E847-B9E1-B3BA-EDED96E595CE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8822A7-497A-8FD2-990A-C8D912547E57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Estimated parameter of team members applied Simulation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BA1FB89C-A00C-4328-5FBB-19E01E0D5DE3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59E28781-FD4C-15D8-6278-BCAA87AEF254}"/>
              </a:ext>
            </a:extLst>
          </p:cNvPr>
          <p:cNvSpPr txBox="1">
            <a:spLocks/>
          </p:cNvSpPr>
          <p:nvPr/>
        </p:nvSpPr>
        <p:spPr>
          <a:xfrm>
            <a:off x="1152830" y="2005686"/>
            <a:ext cx="6348108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2"/>
            </a:pPr>
            <a:r>
              <a:rPr lang="ko-KR" altLang="en-US" sz="2000" b="1" dirty="0" err="1">
                <a:solidFill>
                  <a:srgbClr val="000000"/>
                </a:solidFill>
              </a:rPr>
              <a:t>박시윤</a:t>
            </a:r>
            <a:endParaRPr lang="en-US" altLang="ko-KR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BC9E73-B640-CD4E-9B4D-0E9BFEB5D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677" y="2291707"/>
            <a:ext cx="2948790" cy="227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7456C42-8585-CB2C-A47C-F21B572E8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439" y="2342457"/>
            <a:ext cx="2958205" cy="227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454EF81-A1B6-07D3-9F61-F0003CF8A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499" y="4529363"/>
            <a:ext cx="2833353" cy="217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BF19ADBB-C432-4625-C939-E0A1A9EB1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864" y="4566293"/>
            <a:ext cx="2833353" cy="219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A1BCFA98-A456-674E-9873-529781C584B5}"/>
              </a:ext>
            </a:extLst>
          </p:cNvPr>
          <p:cNvSpPr txBox="1">
            <a:spLocks/>
          </p:cNvSpPr>
          <p:nvPr/>
        </p:nvSpPr>
        <p:spPr>
          <a:xfrm>
            <a:off x="9327782" y="2475045"/>
            <a:ext cx="1711388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</a:rPr>
              <a:t>Q-learning</a:t>
            </a: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D39F4077-70F9-C3A9-0EA5-88A5A2ECDEE8}"/>
              </a:ext>
            </a:extLst>
          </p:cNvPr>
          <p:cNvSpPr txBox="1">
            <a:spLocks/>
          </p:cNvSpPr>
          <p:nvPr/>
        </p:nvSpPr>
        <p:spPr>
          <a:xfrm>
            <a:off x="9300458" y="4747234"/>
            <a:ext cx="1711388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</a:rPr>
              <a:t>VS Q-learning</a:t>
            </a: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13" name="텍스트 개체 틀 6">
            <a:extLst>
              <a:ext uri="{FF2B5EF4-FFF2-40B4-BE49-F238E27FC236}">
                <a16:creationId xmlns:a16="http://schemas.microsoft.com/office/drawing/2014/main" id="{EE5A9108-31F1-E161-AFD7-382AB8A13781}"/>
              </a:ext>
            </a:extLst>
          </p:cNvPr>
          <p:cNvSpPr txBox="1">
            <a:spLocks/>
          </p:cNvSpPr>
          <p:nvPr/>
        </p:nvSpPr>
        <p:spPr>
          <a:xfrm>
            <a:off x="3545636" y="1920759"/>
            <a:ext cx="2453297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400" b="1" dirty="0">
                <a:solidFill>
                  <a:srgbClr val="000000"/>
                </a:solidFill>
              </a:rPr>
              <a:t>Cumulative Rewards</a:t>
            </a:r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A5C45D5C-E038-F52D-ED11-41F8EB6A0524}"/>
              </a:ext>
            </a:extLst>
          </p:cNvPr>
          <p:cNvSpPr txBox="1">
            <a:spLocks/>
          </p:cNvSpPr>
          <p:nvPr/>
        </p:nvSpPr>
        <p:spPr>
          <a:xfrm>
            <a:off x="7124353" y="1935711"/>
            <a:ext cx="2534772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400" b="1" dirty="0">
                <a:solidFill>
                  <a:srgbClr val="000000"/>
                </a:solidFill>
              </a:rPr>
              <a:t>Q value for action</a:t>
            </a:r>
          </a:p>
        </p:txBody>
      </p:sp>
    </p:spTree>
    <p:extLst>
      <p:ext uri="{BB962C8B-B14F-4D97-AF65-F5344CB8AC3E}">
        <p14:creationId xmlns:p14="http://schemas.microsoft.com/office/powerpoint/2010/main" val="3943921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045FA-18F4-630E-4EB7-00A6AEE3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C58E1B9-3F68-63A3-69B3-90540FBC35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Execution result and Analysis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9949B22-D449-D43E-3439-E7A3C050A394}"/>
              </a:ext>
            </a:extLst>
          </p:cNvPr>
          <p:cNvGrpSpPr/>
          <p:nvPr/>
        </p:nvGrpSpPr>
        <p:grpSpPr>
          <a:xfrm>
            <a:off x="886130" y="1277728"/>
            <a:ext cx="9237584" cy="544765"/>
            <a:chOff x="1206557" y="1499842"/>
            <a:chExt cx="9237584" cy="5447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7DD339-CC39-17ED-F2BD-A8C08358FCA7}"/>
                </a:ext>
              </a:extLst>
            </p:cNvPr>
            <p:cNvSpPr txBox="1"/>
            <p:nvPr/>
          </p:nvSpPr>
          <p:spPr>
            <a:xfrm>
              <a:off x="1473257" y="1499842"/>
              <a:ext cx="8970884" cy="5447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defRPr>
              </a:lvl1pPr>
            </a:lstStyle>
            <a:p>
              <a:pPr fontAlgn="base"/>
              <a:r>
                <a:rPr lang="en" altLang="ko-KR" dirty="0"/>
                <a:t>Estimated parameter of team members applied Simulation</a:t>
              </a:r>
            </a:p>
          </p:txBody>
        </p:sp>
        <p:sp>
          <p:nvSpPr>
            <p:cNvPr id="18" name="평행 사변형 44">
              <a:extLst>
                <a:ext uri="{FF2B5EF4-FFF2-40B4-BE49-F238E27FC236}">
                  <a16:creationId xmlns:a16="http://schemas.microsoft.com/office/drawing/2014/main" id="{29F4BBF5-90D9-36F1-D0B7-387961B53511}"/>
                </a:ext>
              </a:extLst>
            </p:cNvPr>
            <p:cNvSpPr/>
            <p:nvPr/>
          </p:nvSpPr>
          <p:spPr>
            <a:xfrm>
              <a:off x="1206557" y="1735479"/>
              <a:ext cx="219075" cy="135342"/>
            </a:xfrm>
            <a:prstGeom prst="parallelogram">
              <a:avLst/>
            </a:prstGeom>
            <a:solidFill>
              <a:srgbClr val="0B1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나눔명조" panose="02020603020101020101" pitchFamily="18" charset="-127"/>
              </a:endParaRPr>
            </a:p>
          </p:txBody>
        </p:sp>
      </p:grp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EEAC2319-9192-51FC-33F7-2722A9307B65}"/>
              </a:ext>
            </a:extLst>
          </p:cNvPr>
          <p:cNvSpPr txBox="1">
            <a:spLocks/>
          </p:cNvSpPr>
          <p:nvPr/>
        </p:nvSpPr>
        <p:spPr>
          <a:xfrm>
            <a:off x="1152830" y="2005686"/>
            <a:ext cx="6348108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ea"/>
              <a:buAutoNum type="circleNumDbPlain" startAt="3"/>
            </a:pPr>
            <a:r>
              <a:rPr lang="ko-KR" altLang="en-US" sz="2000" b="1" dirty="0">
                <a:solidFill>
                  <a:srgbClr val="000000"/>
                </a:solidFill>
              </a:rPr>
              <a:t>이상아</a:t>
            </a:r>
            <a:endParaRPr lang="en-US" altLang="ko-KR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4A9E79A-8572-C61C-BD5E-1A4B8FF61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960" y="2325969"/>
            <a:ext cx="2832104" cy="220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1385541-DA9D-739C-9390-895803D7C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472" y="2325968"/>
            <a:ext cx="2870901" cy="220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1BEA5C8-457F-354D-A46F-D78D03F14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430" y="4447098"/>
            <a:ext cx="2832104" cy="213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5E5360A5-BA2F-A217-BDB0-12FF4920F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70" y="4532029"/>
            <a:ext cx="2832104" cy="220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텍스트 개체 틀 6">
            <a:extLst>
              <a:ext uri="{FF2B5EF4-FFF2-40B4-BE49-F238E27FC236}">
                <a16:creationId xmlns:a16="http://schemas.microsoft.com/office/drawing/2014/main" id="{BCA15F51-FC37-FE51-D702-970105DCA158}"/>
              </a:ext>
            </a:extLst>
          </p:cNvPr>
          <p:cNvSpPr txBox="1">
            <a:spLocks/>
          </p:cNvSpPr>
          <p:nvPr/>
        </p:nvSpPr>
        <p:spPr>
          <a:xfrm>
            <a:off x="9327782" y="2475045"/>
            <a:ext cx="1711388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</a:rPr>
              <a:t>Q-learning</a:t>
            </a: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22" name="텍스트 개체 틀 6">
            <a:extLst>
              <a:ext uri="{FF2B5EF4-FFF2-40B4-BE49-F238E27FC236}">
                <a16:creationId xmlns:a16="http://schemas.microsoft.com/office/drawing/2014/main" id="{B858AE53-0EC5-91D6-DB8D-92571BB59C0D}"/>
              </a:ext>
            </a:extLst>
          </p:cNvPr>
          <p:cNvSpPr txBox="1">
            <a:spLocks/>
          </p:cNvSpPr>
          <p:nvPr/>
        </p:nvSpPr>
        <p:spPr>
          <a:xfrm>
            <a:off x="9300458" y="4747234"/>
            <a:ext cx="1711388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</a:rPr>
              <a:t>VS Q-learning</a:t>
            </a:r>
            <a:endParaRPr lang="en" altLang="ko-KR" sz="2000" b="1" dirty="0">
              <a:solidFill>
                <a:srgbClr val="000000"/>
              </a:solidFill>
            </a:endParaRPr>
          </a:p>
        </p:txBody>
      </p:sp>
      <p:sp>
        <p:nvSpPr>
          <p:cNvPr id="23" name="텍스트 개체 틀 6">
            <a:extLst>
              <a:ext uri="{FF2B5EF4-FFF2-40B4-BE49-F238E27FC236}">
                <a16:creationId xmlns:a16="http://schemas.microsoft.com/office/drawing/2014/main" id="{39B4B854-5C22-7D9F-F92F-AB90D9A6E11B}"/>
              </a:ext>
            </a:extLst>
          </p:cNvPr>
          <p:cNvSpPr txBox="1">
            <a:spLocks/>
          </p:cNvSpPr>
          <p:nvPr/>
        </p:nvSpPr>
        <p:spPr>
          <a:xfrm>
            <a:off x="3545636" y="1920759"/>
            <a:ext cx="2453297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400" b="1" dirty="0">
                <a:solidFill>
                  <a:srgbClr val="000000"/>
                </a:solidFill>
              </a:rPr>
              <a:t>Cumulative Rewards</a:t>
            </a:r>
          </a:p>
        </p:txBody>
      </p:sp>
      <p:sp>
        <p:nvSpPr>
          <p:cNvPr id="24" name="텍스트 개체 틀 6">
            <a:extLst>
              <a:ext uri="{FF2B5EF4-FFF2-40B4-BE49-F238E27FC236}">
                <a16:creationId xmlns:a16="http://schemas.microsoft.com/office/drawing/2014/main" id="{14A27F93-8279-1150-6C2C-DF8441DA85EF}"/>
              </a:ext>
            </a:extLst>
          </p:cNvPr>
          <p:cNvSpPr txBox="1">
            <a:spLocks/>
          </p:cNvSpPr>
          <p:nvPr/>
        </p:nvSpPr>
        <p:spPr>
          <a:xfrm>
            <a:off x="7124353" y="1935711"/>
            <a:ext cx="2534772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1400" b="1" dirty="0">
                <a:solidFill>
                  <a:srgbClr val="000000"/>
                </a:solidFill>
              </a:rPr>
              <a:t>Q value for action</a:t>
            </a:r>
          </a:p>
        </p:txBody>
      </p:sp>
    </p:spTree>
    <p:extLst>
      <p:ext uri="{BB962C8B-B14F-4D97-AF65-F5344CB8AC3E}">
        <p14:creationId xmlns:p14="http://schemas.microsoft.com/office/powerpoint/2010/main" val="4157479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45A3-0A30-9DA5-ECA3-058D3E82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596C879-FA79-EBE3-D68C-6D9A2BC66C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5.</a:t>
            </a:r>
            <a:r>
              <a:rPr lang="ko-KR" altLang="en-US" dirty="0"/>
              <a:t> </a:t>
            </a:r>
            <a:r>
              <a:rPr lang="en-US" altLang="ko-KR" dirty="0"/>
              <a:t>Conclusion</a:t>
            </a:r>
          </a:p>
        </p:txBody>
      </p:sp>
      <p:sp>
        <p:nvSpPr>
          <p:cNvPr id="4" name="텍스트 개체 틀 6">
            <a:extLst>
              <a:ext uri="{FF2B5EF4-FFF2-40B4-BE49-F238E27FC236}">
                <a16:creationId xmlns:a16="http://schemas.microsoft.com/office/drawing/2014/main" id="{90CEE32D-7AD2-5776-AFD3-699F847F273F}"/>
              </a:ext>
            </a:extLst>
          </p:cNvPr>
          <p:cNvSpPr txBox="1">
            <a:spLocks/>
          </p:cNvSpPr>
          <p:nvPr/>
        </p:nvSpPr>
        <p:spPr>
          <a:xfrm>
            <a:off x="821498" y="1274479"/>
            <a:ext cx="11192309" cy="585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>
                <a:solidFill>
                  <a:srgbClr val="000000"/>
                </a:solidFill>
              </a:rPr>
              <a:t>1) Project Goal Achieved  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By estimating learning parameters (</a:t>
            </a:r>
            <a:r>
              <a:rPr lang="el-GR" altLang="ko-KR" sz="1600" dirty="0">
                <a:solidFill>
                  <a:srgbClr val="000000"/>
                </a:solidFill>
              </a:rPr>
              <a:t>α, β, </a:t>
            </a:r>
            <a:r>
              <a:rPr lang="en-US" altLang="ko-KR" sz="1600" dirty="0">
                <a:solidFill>
                  <a:srgbClr val="000000"/>
                </a:solidFill>
              </a:rPr>
              <a:t>w) from 602 participants using Maximum Likelihood Estimation (MLE), and applying clustering and simulations based on Q-learning and Valence-Specific Q-learning models,  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→ we successfully explained human decision-making behavior in the Iowa Gambling Task (IGT).</a:t>
            </a:r>
          </a:p>
          <a:p>
            <a:endParaRPr lang="en-US" altLang="ko-KR" sz="1050" dirty="0">
              <a:solidFill>
                <a:srgbClr val="000000"/>
              </a:solidFill>
            </a:endParaRPr>
          </a:p>
          <a:p>
            <a:r>
              <a:rPr lang="en-US" altLang="ko-KR" sz="2000" b="1" dirty="0">
                <a:solidFill>
                  <a:srgbClr val="000000"/>
                </a:solidFill>
              </a:rPr>
              <a:t>2)</a:t>
            </a:r>
            <a:r>
              <a:rPr lang="ko-KR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</a:rPr>
              <a:t>Key Findings from Models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- Q-learning Clustering: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  • Cluster 0: High </a:t>
            </a:r>
            <a:r>
              <a:rPr lang="el-GR" altLang="ko-KR" sz="1600" dirty="0">
                <a:solidFill>
                  <a:srgbClr val="000000"/>
                </a:solidFill>
              </a:rPr>
              <a:t>α, </a:t>
            </a:r>
            <a:r>
              <a:rPr lang="en-US" altLang="ko-KR" sz="1600" dirty="0">
                <a:solidFill>
                  <a:srgbClr val="000000"/>
                </a:solidFill>
              </a:rPr>
              <a:t>Low </a:t>
            </a:r>
            <a:r>
              <a:rPr lang="el-GR" altLang="ko-KR" sz="1600" dirty="0">
                <a:solidFill>
                  <a:srgbClr val="000000"/>
                </a:solidFill>
              </a:rPr>
              <a:t>β → </a:t>
            </a:r>
            <a:r>
              <a:rPr lang="en-US" altLang="ko-KR" sz="1600" dirty="0">
                <a:solidFill>
                  <a:srgbClr val="000000"/>
                </a:solidFill>
              </a:rPr>
              <a:t>Rapid convergence with minimal exploration.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  • Cluster 1: Low </a:t>
            </a:r>
            <a:r>
              <a:rPr lang="el-GR" altLang="ko-KR" sz="1600" dirty="0">
                <a:solidFill>
                  <a:srgbClr val="000000"/>
                </a:solidFill>
              </a:rPr>
              <a:t>α, </a:t>
            </a:r>
            <a:r>
              <a:rPr lang="en-US" altLang="ko-KR" sz="1600" dirty="0">
                <a:solidFill>
                  <a:srgbClr val="000000"/>
                </a:solidFill>
              </a:rPr>
              <a:t>High </a:t>
            </a:r>
            <a:r>
              <a:rPr lang="el-GR" altLang="ko-KR" sz="1600" dirty="0">
                <a:solidFill>
                  <a:srgbClr val="000000"/>
                </a:solidFill>
              </a:rPr>
              <a:t>β → </a:t>
            </a:r>
            <a:r>
              <a:rPr lang="en-US" altLang="ko-KR" sz="1600" dirty="0">
                <a:solidFill>
                  <a:srgbClr val="000000"/>
                </a:solidFill>
              </a:rPr>
              <a:t>Slower learning with more trial-and-error.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- VSQ-learning Insights: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  • Cluster 0: More loss-sensitive (Low w), formed stable strategies avoiding penalties.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  • Cluster 1: More gain-sensitive (High w), ignored negative feedback and repeated poor choices.</a:t>
            </a:r>
          </a:p>
          <a:p>
            <a:endParaRPr lang="en-US" altLang="ko-KR" sz="1050" dirty="0">
              <a:solidFill>
                <a:srgbClr val="000000"/>
              </a:solidFill>
            </a:endParaRPr>
          </a:p>
          <a:p>
            <a:r>
              <a:rPr lang="en-US" altLang="ko-KR" sz="2000" b="1" dirty="0">
                <a:solidFill>
                  <a:srgbClr val="000000"/>
                </a:solidFill>
              </a:rPr>
              <a:t>3)</a:t>
            </a:r>
            <a:r>
              <a:rPr lang="ko-KR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</a:rPr>
              <a:t>Team Simulation &amp; Implications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- Both Q-learning and VSQ-learning successfully modeled “individual” team members' decision patterns.</a:t>
            </a:r>
          </a:p>
          <a:p>
            <a:r>
              <a:rPr lang="en-US" altLang="ko-KR" sz="1600" dirty="0">
                <a:solidFill>
                  <a:srgbClr val="000000"/>
                </a:solidFill>
              </a:rPr>
              <a:t>- Future work: Incorporate emotional factors, temporal discounting, and context for more refined modeling.</a:t>
            </a:r>
          </a:p>
          <a:p>
            <a:endParaRPr lang="en-US" altLang="ko-KR" sz="1600" dirty="0">
              <a:solidFill>
                <a:srgbClr val="000000"/>
              </a:solidFill>
            </a:endParaRPr>
          </a:p>
          <a:p>
            <a:endParaRPr lang="en-US" altLang="ko-KR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167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E384F-0494-4BF8-7BB4-CE27D04B5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2D4F4D-B5D3-E27D-7616-8DAC24F51B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29" y="305208"/>
            <a:ext cx="5183908" cy="433965"/>
          </a:xfrm>
        </p:spPr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 </a:t>
            </a:r>
            <a:r>
              <a:rPr lang="en-US" altLang="ko-KR" dirty="0"/>
              <a:t>References and Resources</a:t>
            </a: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87BB3736-284E-71A3-A67C-F9BB8E14306F}"/>
              </a:ext>
            </a:extLst>
          </p:cNvPr>
          <p:cNvSpPr txBox="1">
            <a:spLocks/>
          </p:cNvSpPr>
          <p:nvPr/>
        </p:nvSpPr>
        <p:spPr>
          <a:xfrm>
            <a:off x="816853" y="1134775"/>
            <a:ext cx="10905247" cy="5097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0000"/>
                </a:solidFill>
              </a:rPr>
              <a:t>References</a:t>
            </a:r>
          </a:p>
          <a:p>
            <a:r>
              <a:rPr lang="en-US" altLang="ko-KR" sz="1400" b="1" dirty="0">
                <a:solidFill>
                  <a:srgbClr val="000000"/>
                </a:solidFill>
              </a:rPr>
              <a:t>1. </a:t>
            </a:r>
            <a:r>
              <a:rPr lang="en" altLang="ko-KR" sz="1400" b="1" dirty="0">
                <a:solidFill>
                  <a:srgbClr val="000000"/>
                </a:solidFill>
              </a:rPr>
              <a:t>Bechara et al. (2013).</a:t>
            </a:r>
          </a:p>
          <a:p>
            <a:r>
              <a:rPr lang="en" altLang="ko-KR" sz="1400" i="1" dirty="0">
                <a:solidFill>
                  <a:srgbClr val="000000"/>
                </a:solidFill>
              </a:rPr>
              <a:t> Insensitivity to future consequences following damage to human prefrontal cortex.</a:t>
            </a:r>
          </a:p>
          <a:p>
            <a:r>
              <a:rPr lang="en" altLang="ko-KR" sz="1400" b="1" dirty="0">
                <a:solidFill>
                  <a:srgbClr val="000000"/>
                </a:solidFill>
              </a:rPr>
              <a:t>2. </a:t>
            </a:r>
            <a:r>
              <a:rPr lang="en" altLang="ko-KR" sz="1400" b="1" dirty="0" err="1">
                <a:solidFill>
                  <a:srgbClr val="000000"/>
                </a:solidFill>
              </a:rPr>
              <a:t>Busemeyer</a:t>
            </a:r>
            <a:r>
              <a:rPr lang="en" altLang="ko-KR" sz="1400" b="1" dirty="0">
                <a:solidFill>
                  <a:srgbClr val="000000"/>
                </a:solidFill>
              </a:rPr>
              <a:t>, J. R., &amp; Stout, J. C. (2002). </a:t>
            </a:r>
          </a:p>
          <a:p>
            <a:r>
              <a:rPr lang="en" altLang="ko-KR" sz="1400" i="1" dirty="0">
                <a:solidFill>
                  <a:srgbClr val="000000"/>
                </a:solidFill>
              </a:rPr>
              <a:t>A contribution of cognitive decision models to clinical assessment: Decomposing performance on the Bechara gambling task.</a:t>
            </a:r>
          </a:p>
          <a:p>
            <a:r>
              <a:rPr lang="en" altLang="ko-KR" sz="1400" b="1" dirty="0">
                <a:solidFill>
                  <a:srgbClr val="000000"/>
                </a:solidFill>
              </a:rPr>
              <a:t>3. Haines, N., </a:t>
            </a:r>
            <a:r>
              <a:rPr lang="en" altLang="ko-KR" sz="1400" b="1" dirty="0" err="1">
                <a:solidFill>
                  <a:srgbClr val="000000"/>
                </a:solidFill>
              </a:rPr>
              <a:t>Vassileva</a:t>
            </a:r>
            <a:r>
              <a:rPr lang="en" altLang="ko-KR" sz="1400" b="1" dirty="0">
                <a:solidFill>
                  <a:srgbClr val="000000"/>
                </a:solidFill>
              </a:rPr>
              <a:t>, J., &amp; Ahn, W.-Y. (2018). </a:t>
            </a:r>
          </a:p>
          <a:p>
            <a:r>
              <a:rPr lang="en" altLang="ko-KR" sz="1400" i="1" dirty="0">
                <a:solidFill>
                  <a:srgbClr val="000000"/>
                </a:solidFill>
              </a:rPr>
              <a:t>The outcome‐representation learning model: A novel reinforcement learning model of the Iowa Gambling Task.</a:t>
            </a:r>
            <a:endParaRPr lang="en-US" altLang="ko-KR" sz="1400" i="1" dirty="0">
              <a:solidFill>
                <a:srgbClr val="000000"/>
              </a:solidFill>
            </a:endParaRPr>
          </a:p>
          <a:p>
            <a:r>
              <a:rPr lang="en-US" altLang="ko-KR" sz="1400" b="1" dirty="0">
                <a:solidFill>
                  <a:srgbClr val="000000"/>
                </a:solidFill>
              </a:rPr>
              <a:t>4. </a:t>
            </a:r>
            <a:r>
              <a:rPr lang="en" altLang="ko-KR" sz="1400" b="1" dirty="0">
                <a:solidFill>
                  <a:srgbClr val="000000"/>
                </a:solidFill>
              </a:rPr>
              <a:t>Naidoo, L. (2019). </a:t>
            </a:r>
          </a:p>
          <a:p>
            <a:r>
              <a:rPr lang="en" altLang="ko-KR" sz="1400" i="1" dirty="0">
                <a:solidFill>
                  <a:srgbClr val="000000"/>
                </a:solidFill>
              </a:rPr>
              <a:t>Knowledge, attitudes and perceptions of Genomic Medicine among medical students, private medical practitioners and the general public in eThekwini, KwaZulu-Natal. </a:t>
            </a:r>
          </a:p>
          <a:p>
            <a:r>
              <a:rPr lang="en-US" altLang="ko-KR" sz="1400" b="1" dirty="0">
                <a:solidFill>
                  <a:srgbClr val="000000"/>
                </a:solidFill>
              </a:rPr>
              <a:t>5. </a:t>
            </a:r>
            <a:r>
              <a:rPr lang="ko-KR" altLang="en-US" sz="1400" b="1" dirty="0">
                <a:solidFill>
                  <a:srgbClr val="000000"/>
                </a:solidFill>
              </a:rPr>
              <a:t> </a:t>
            </a:r>
            <a:r>
              <a:rPr lang="en" altLang="ko-KR" sz="1400" b="1" dirty="0">
                <a:solidFill>
                  <a:srgbClr val="000000"/>
                </a:solidFill>
              </a:rPr>
              <a:t>Kjome, K. L.</a:t>
            </a:r>
            <a:r>
              <a:rPr lang="ko-KR" altLang="en-US" sz="1400" b="1" dirty="0">
                <a:solidFill>
                  <a:srgbClr val="000000"/>
                </a:solidFill>
              </a:rPr>
              <a:t> </a:t>
            </a:r>
            <a:r>
              <a:rPr lang="en-US" altLang="ko-KR" sz="1400" b="1" dirty="0">
                <a:solidFill>
                  <a:srgbClr val="000000"/>
                </a:solidFill>
              </a:rPr>
              <a:t>et al.(2010)</a:t>
            </a:r>
            <a:r>
              <a:rPr lang="en" altLang="ko-KR" sz="1400" b="1" dirty="0">
                <a:solidFill>
                  <a:srgbClr val="000000"/>
                </a:solidFill>
              </a:rPr>
              <a:t> </a:t>
            </a:r>
          </a:p>
          <a:p>
            <a:r>
              <a:rPr lang="en" altLang="ko-KR" sz="1400" i="1" dirty="0">
                <a:solidFill>
                  <a:srgbClr val="000000"/>
                </a:solidFill>
              </a:rPr>
              <a:t>Relationship between impulsivity and decision making in cocaine dependence.</a:t>
            </a:r>
          </a:p>
          <a:p>
            <a:r>
              <a:rPr lang="en" altLang="ko-KR" sz="1400" b="1" dirty="0">
                <a:solidFill>
                  <a:srgbClr val="000000"/>
                </a:solidFill>
              </a:rPr>
              <a:t>6. </a:t>
            </a:r>
            <a:r>
              <a:rPr lang="en" altLang="ko-KR" sz="1400" b="1" dirty="0" err="1">
                <a:solidFill>
                  <a:srgbClr val="000000"/>
                </a:solidFill>
              </a:rPr>
              <a:t>Steingroever</a:t>
            </a:r>
            <a:r>
              <a:rPr lang="en" altLang="ko-KR" sz="1400" b="1" dirty="0">
                <a:solidFill>
                  <a:srgbClr val="000000"/>
                </a:solidFill>
              </a:rPr>
              <a:t>, et al.</a:t>
            </a:r>
            <a:r>
              <a:rPr lang="ko-KR" altLang="en-US" sz="1400" b="1" dirty="0">
                <a:solidFill>
                  <a:srgbClr val="000000"/>
                </a:solidFill>
              </a:rPr>
              <a:t> </a:t>
            </a:r>
            <a:endParaRPr lang="en" altLang="ko-KR" sz="1400" b="1" dirty="0">
              <a:solidFill>
                <a:srgbClr val="000000"/>
              </a:solidFill>
            </a:endParaRPr>
          </a:p>
          <a:p>
            <a:r>
              <a:rPr lang="en" altLang="ko-KR" sz="1400" i="1" dirty="0">
                <a:solidFill>
                  <a:srgbClr val="000000"/>
                </a:solidFill>
              </a:rPr>
              <a:t>Do intuitive and deliberate decision makers perform differently on the Iowa Gambling Task?</a:t>
            </a:r>
          </a:p>
          <a:p>
            <a:endParaRPr lang="en" altLang="ko-KR" sz="500" dirty="0">
              <a:solidFill>
                <a:srgbClr val="000000"/>
              </a:solidFill>
            </a:endParaRPr>
          </a:p>
          <a:p>
            <a:r>
              <a:rPr lang="en" altLang="ko-KR" b="1" dirty="0">
                <a:solidFill>
                  <a:srgbClr val="000000"/>
                </a:solidFill>
              </a:rPr>
              <a:t>Resources</a:t>
            </a:r>
          </a:p>
          <a:p>
            <a:r>
              <a:rPr lang="en" altLang="ko-KR" sz="1400" dirty="0">
                <a:solidFill>
                  <a:srgbClr val="000000"/>
                </a:solidFill>
              </a:rPr>
              <a:t>1. Datasets : </a:t>
            </a:r>
            <a:r>
              <a:rPr lang="en" altLang="ko-KR" sz="1400" dirty="0">
                <a:solidFill>
                  <a:srgbClr val="000000"/>
                </a:solidFill>
                <a:hlinkClick r:id="rId3"/>
              </a:rPr>
              <a:t>https://osf.io/8t7rm/</a:t>
            </a:r>
            <a:endParaRPr lang="en" altLang="ko-KR" sz="1400" dirty="0">
              <a:solidFill>
                <a:srgbClr val="000000"/>
              </a:solidFill>
            </a:endParaRPr>
          </a:p>
          <a:p>
            <a:r>
              <a:rPr lang="en" altLang="ko-KR" sz="1400" dirty="0">
                <a:solidFill>
                  <a:srgbClr val="000000"/>
                </a:solidFill>
              </a:rPr>
              <a:t>2. Iowa Explanation &amp; Game Simulation : </a:t>
            </a:r>
            <a:r>
              <a:rPr lang="en" altLang="ko-KR" sz="1400" dirty="0">
                <a:solidFill>
                  <a:srgbClr val="000000"/>
                </a:solidFill>
                <a:hlinkClick r:id="rId4"/>
              </a:rPr>
              <a:t>https://</a:t>
            </a:r>
            <a:r>
              <a:rPr lang="en" altLang="ko-KR" sz="1400" dirty="0" err="1">
                <a:solidFill>
                  <a:srgbClr val="000000"/>
                </a:solidFill>
                <a:hlinkClick r:id="rId4"/>
              </a:rPr>
              <a:t>www.psytoolkit.org</a:t>
            </a:r>
            <a:r>
              <a:rPr lang="en" altLang="ko-KR" sz="1400" dirty="0">
                <a:solidFill>
                  <a:srgbClr val="000000"/>
                </a:solidFill>
                <a:hlinkClick r:id="rId4"/>
              </a:rPr>
              <a:t>/experiment-library/</a:t>
            </a:r>
            <a:r>
              <a:rPr lang="en" altLang="ko-KR" sz="1400" dirty="0" err="1">
                <a:solidFill>
                  <a:srgbClr val="000000"/>
                </a:solidFill>
                <a:hlinkClick r:id="rId4"/>
              </a:rPr>
              <a:t>igt.html</a:t>
            </a:r>
            <a:endParaRPr lang="en" altLang="ko-KR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89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8FED-ECA2-6703-574F-DE8CC165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5AA362-E810-0DA2-F98A-A68CFE17FDF5}"/>
              </a:ext>
            </a:extLst>
          </p:cNvPr>
          <p:cNvSpPr txBox="1"/>
          <p:nvPr/>
        </p:nvSpPr>
        <p:spPr>
          <a:xfrm>
            <a:off x="976302" y="1352064"/>
            <a:ext cx="6810011" cy="1646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2400">
                <a:solidFill>
                  <a:srgbClr val="18181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en-US" altLang="ko-KR" sz="4000" dirty="0"/>
              <a:t>Thank you for listening</a:t>
            </a:r>
            <a:r>
              <a:rPr lang="en-US" altLang="ko-KR" sz="4000" dirty="0">
                <a:sym typeface="Wingdings" pitchFamily="2" charset="2"/>
              </a:rPr>
              <a:t>,</a:t>
            </a:r>
          </a:p>
          <a:p>
            <a:r>
              <a:rPr lang="en-US" altLang="ko-KR" sz="4000" dirty="0"/>
              <a:t>Q&amp;A</a:t>
            </a:r>
            <a:endParaRPr lang="ko-KR" altLang="en-US" sz="4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41810E8-DDD1-8930-6431-E1C1BBF4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36" b="69717"/>
          <a:stretch/>
        </p:blipFill>
        <p:spPr>
          <a:xfrm>
            <a:off x="4405685" y="6153113"/>
            <a:ext cx="3380629" cy="7048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CCB55A-D213-7AD1-7A2E-29A8EB92FCFF}"/>
              </a:ext>
            </a:extLst>
          </p:cNvPr>
          <p:cNvSpPr txBox="1"/>
          <p:nvPr/>
        </p:nvSpPr>
        <p:spPr>
          <a:xfrm>
            <a:off x="6539697" y="4226662"/>
            <a:ext cx="4194827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 algn="r"/>
            <a:r>
              <a:rPr lang="en-US" altLang="ko-KR" dirty="0"/>
              <a:t>202011003</a:t>
            </a:r>
            <a:r>
              <a:rPr lang="ko-KR" altLang="en-US" dirty="0"/>
              <a:t> 강승수</a:t>
            </a:r>
            <a:endParaRPr lang="en-US" altLang="ko-KR" dirty="0"/>
          </a:p>
          <a:p>
            <a:pPr algn="r"/>
            <a:r>
              <a:rPr lang="en-US" altLang="ko-KR" dirty="0"/>
              <a:t>202211080</a:t>
            </a:r>
            <a:r>
              <a:rPr lang="ko-KR" altLang="en-US" dirty="0"/>
              <a:t> </a:t>
            </a:r>
            <a:r>
              <a:rPr lang="ko-KR" altLang="en-US" dirty="0" err="1"/>
              <a:t>박시윤</a:t>
            </a:r>
            <a:endParaRPr lang="en-US" altLang="ko-KR" dirty="0"/>
          </a:p>
          <a:p>
            <a:pPr algn="r"/>
            <a:r>
              <a:rPr lang="en-US" altLang="ko-KR" dirty="0"/>
              <a:t>202311132</a:t>
            </a:r>
            <a:r>
              <a:rPr lang="ko-KR" altLang="en-US" dirty="0"/>
              <a:t> 이상아</a:t>
            </a:r>
            <a:endParaRPr lang="en-US" altLang="ko-KR" dirty="0"/>
          </a:p>
          <a:p>
            <a:pPr algn="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17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Poppins Medium"/>
        <a:ea typeface="Noto Sans KR Medium"/>
        <a:cs typeface=""/>
      </a:majorFont>
      <a:minorFont>
        <a:latin typeface="Poppins Light"/>
        <a:ea typeface="Noto Sans KR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181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181818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1200" spc="-150" dirty="0">
            <a:solidFill>
              <a:srgbClr val="181818"/>
            </a:solidFill>
            <a:latin typeface="Noto Sans KR Medium" panose="020B0600000000000000" pitchFamily="34" charset="-127"/>
            <a:ea typeface="Noto Sans KR Medium" panose="020B0600000000000000" pitchFamily="34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6507</TotalTime>
  <Words>1433</Words>
  <Application>Microsoft Macintosh PowerPoint</Application>
  <PresentationFormat>와이드스크린</PresentationFormat>
  <Paragraphs>289</Paragraphs>
  <Slides>28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KoPubWorld돋움체 Medium</vt:lpstr>
      <vt:lpstr>Cambria Math</vt:lpstr>
      <vt:lpstr>Wingdings</vt:lpstr>
      <vt:lpstr>나눔명조</vt:lpstr>
      <vt:lpstr>맑은 고딕</vt:lpstr>
      <vt:lpstr>Arial</vt:lpstr>
      <vt:lpstr>KoPubWorld돋움체 Bold</vt:lpstr>
      <vt:lpstr>KOPUBWORLDDOTUM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changsun.h</dc:creator>
  <cp:lastModifiedBy>이상아</cp:lastModifiedBy>
  <cp:revision>810</cp:revision>
  <dcterms:created xsi:type="dcterms:W3CDTF">2021-06-08T04:56:55Z</dcterms:created>
  <dcterms:modified xsi:type="dcterms:W3CDTF">2025-06-01T14:07:19Z</dcterms:modified>
</cp:coreProperties>
</file>